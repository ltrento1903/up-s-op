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1" r:id="rId18"/>
    <p:sldId id="272" r:id="rId19"/>
  </p:sldIdLst>
  <p:sldSz cx="12192000" cy="6858000"/>
  <p:notesSz cx="6858000" cy="9144000"/>
  <p:embeddedFontLst>
    <p:embeddedFont>
      <p:font typeface="Microsoft YaHei" panose="020B0503020204020204" pitchFamily="34" charset="-122"/>
      <p:regular r:id="rId21"/>
      <p:bold r:id="rId22"/>
    </p:embeddedFont>
    <p:embeddedFont>
      <p:font typeface="Cambria Math" panose="02040503050406030204" pitchFamily="18" charset="0"/>
      <p:regular r:id="rId23"/>
    </p:embeddedFont>
    <p:embeddedFont>
      <p:font typeface="High Tower Text" panose="02040502050506030303" pitchFamily="18" charset="0"/>
      <p:regular r:id="rId24"/>
      <p:italic r:id="rId25"/>
    </p:embeddedFont>
    <p:embeddedFont>
      <p:font typeface="IBM Plex Mono" panose="020B0509050203000203" pitchFamily="49" charset="0"/>
      <p:regular r:id="rId26"/>
      <p:bold r:id="rId27"/>
      <p:italic r:id="rId28"/>
      <p:boldItalic r:id="rId29"/>
    </p:embeddedFont>
    <p:embeddedFont>
      <p:font typeface="IBM Plex Sans" panose="020B0503050203000203" pitchFamily="34" charset="0"/>
      <p:regular r:id="rId30"/>
      <p:bold r:id="rId31"/>
      <p:italic r:id="rId32"/>
      <p:boldItalic r:id="rId33"/>
    </p:embeddedFont>
    <p:embeddedFont>
      <p:font typeface="Inter" panose="020B0604020202020204" charset="0"/>
      <p:regular r:id="rId34"/>
      <p:bold r:id="rId35"/>
      <p:italic r:id="rId36"/>
      <p:boldItalic r:id="rId37"/>
    </p:embeddedFont>
    <p:embeddedFont>
      <p:font typeface="Segoe UI Emoji" panose="020B0502040204020203" pitchFamily="34" charset="0"/>
      <p:regular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92FA39-9164-4CFF-A03D-0B8BBAE76E0C}" v="26" dt="2026-09-28T13:02:16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Trento" userId="702629114b212db8" providerId="LiveId" clId="{521F1DEA-2C75-418B-A8DF-CD56F058CF88}"/>
    <pc:docChg chg="undo redo custSel addSld delSld modSld">
      <pc:chgData name="Luiz Trento" userId="702629114b212db8" providerId="LiveId" clId="{521F1DEA-2C75-418B-A8DF-CD56F058CF88}" dt="2026-09-28T13:03:05.221" v="1145" actId="26606"/>
      <pc:docMkLst>
        <pc:docMk/>
      </pc:docMkLst>
      <pc:sldChg chg="modSp mod">
        <pc:chgData name="Luiz Trento" userId="702629114b212db8" providerId="LiveId" clId="{521F1DEA-2C75-418B-A8DF-CD56F058CF88}" dt="2026-09-28T10:53:07.176" v="112" actId="14100"/>
        <pc:sldMkLst>
          <pc:docMk/>
          <pc:sldMk cId="0" sldId="256"/>
        </pc:sldMkLst>
        <pc:picChg chg="mod">
          <ac:chgData name="Luiz Trento" userId="702629114b212db8" providerId="LiveId" clId="{521F1DEA-2C75-418B-A8DF-CD56F058CF88}" dt="2026-09-28T10:53:07.176" v="112" actId="14100"/>
          <ac:picMkLst>
            <pc:docMk/>
            <pc:sldMk cId="0" sldId="256"/>
            <ac:picMk id="23" creationId="{00000000-0000-0000-0000-000000000000}"/>
          </ac:picMkLst>
        </pc:picChg>
      </pc:sldChg>
      <pc:sldChg chg="modSp mod">
        <pc:chgData name="Luiz Trento" userId="702629114b212db8" providerId="LiveId" clId="{521F1DEA-2C75-418B-A8DF-CD56F058CF88}" dt="2026-09-27T14:39:35.611" v="14" actId="20577"/>
        <pc:sldMkLst>
          <pc:docMk/>
          <pc:sldMk cId="0" sldId="258"/>
        </pc:sldMkLst>
        <pc:spChg chg="mod">
          <ac:chgData name="Luiz Trento" userId="702629114b212db8" providerId="LiveId" clId="{521F1DEA-2C75-418B-A8DF-CD56F058CF88}" dt="2026-09-27T14:39:20.379" v="4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39:23.857" v="6" actId="2057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39:26.730" v="8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39:30.200" v="10" actId="20577"/>
          <ac:spMkLst>
            <pc:docMk/>
            <pc:sldMk cId="0" sldId="258"/>
            <ac:spMk id="33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39:33.310" v="12" actId="20577"/>
          <ac:spMkLst>
            <pc:docMk/>
            <pc:sldMk cId="0" sldId="258"/>
            <ac:spMk id="34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39:35.611" v="14" actId="20577"/>
          <ac:spMkLst>
            <pc:docMk/>
            <pc:sldMk cId="0" sldId="258"/>
            <ac:spMk id="35" creationId="{00000000-0000-0000-0000-000000000000}"/>
          </ac:spMkLst>
        </pc:spChg>
      </pc:sldChg>
      <pc:sldChg chg="modSp mod">
        <pc:chgData name="Luiz Trento" userId="702629114b212db8" providerId="LiveId" clId="{521F1DEA-2C75-418B-A8DF-CD56F058CF88}" dt="2026-09-27T14:39:47.237" v="16" actId="20577"/>
        <pc:sldMkLst>
          <pc:docMk/>
          <pc:sldMk cId="0" sldId="259"/>
        </pc:sldMkLst>
        <pc:spChg chg="mod">
          <ac:chgData name="Luiz Trento" userId="702629114b212db8" providerId="LiveId" clId="{521F1DEA-2C75-418B-A8DF-CD56F058CF88}" dt="2026-09-27T14:39:47.237" v="16" actId="20577"/>
          <ac:spMkLst>
            <pc:docMk/>
            <pc:sldMk cId="0" sldId="259"/>
            <ac:spMk id="33" creationId="{00000000-0000-0000-0000-000000000000}"/>
          </ac:spMkLst>
        </pc:spChg>
      </pc:sldChg>
      <pc:sldChg chg="addSp delSp modSp mod">
        <pc:chgData name="Luiz Trento" userId="702629114b212db8" providerId="LiveId" clId="{521F1DEA-2C75-418B-A8DF-CD56F058CF88}" dt="2026-09-28T12:13:53.537" v="1133" actId="6549"/>
        <pc:sldMkLst>
          <pc:docMk/>
          <pc:sldMk cId="0" sldId="260"/>
        </pc:sldMkLst>
        <pc:spChg chg="mod">
          <ac:chgData name="Luiz Trento" userId="702629114b212db8" providerId="LiveId" clId="{521F1DEA-2C75-418B-A8DF-CD56F058CF88}" dt="2026-09-28T11:35:58.604" v="578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6:02.183" v="579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Luiz Trento" userId="702629114b212db8" providerId="LiveId" clId="{521F1DEA-2C75-418B-A8DF-CD56F058CF88}" dt="2026-09-28T12:11:16.165" v="1045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2:57.229" v="483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2:29.081" v="449" actId="103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2:29.081" v="449" actId="10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1:00.493" v="383" actId="103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1:00.493" v="383" actId="103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0:24.104" v="326" actId="103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0:24.104" v="326" actId="103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1:41.648" v="397" actId="103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1:41.648" v="397" actId="1036"/>
          <ac:spMkLst>
            <pc:docMk/>
            <pc:sldMk cId="0" sldId="260"/>
            <ac:spMk id="35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1:26.231" v="394" actId="1036"/>
          <ac:spMkLst>
            <pc:docMk/>
            <pc:sldMk cId="0" sldId="260"/>
            <ac:spMk id="40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31:26.231" v="394" actId="1036"/>
          <ac:spMkLst>
            <pc:docMk/>
            <pc:sldMk cId="0" sldId="260"/>
            <ac:spMk id="41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40:27.443" v="27" actId="20577"/>
          <ac:spMkLst>
            <pc:docMk/>
            <pc:sldMk cId="0" sldId="260"/>
            <ac:spMk id="57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54:04.643" v="808" actId="1036"/>
          <ac:spMkLst>
            <pc:docMk/>
            <pc:sldMk cId="0" sldId="260"/>
            <ac:spMk id="58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54:04.643" v="808" actId="1036"/>
          <ac:spMkLst>
            <pc:docMk/>
            <pc:sldMk cId="0" sldId="260"/>
            <ac:spMk id="59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54:04.643" v="808" actId="1036"/>
          <ac:spMkLst>
            <pc:docMk/>
            <pc:sldMk cId="0" sldId="260"/>
            <ac:spMk id="60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54:04.643" v="808" actId="1036"/>
          <ac:spMkLst>
            <pc:docMk/>
            <pc:sldMk cId="0" sldId="260"/>
            <ac:spMk id="61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54:04.643" v="808" actId="1036"/>
          <ac:spMkLst>
            <pc:docMk/>
            <pc:sldMk cId="0" sldId="260"/>
            <ac:spMk id="62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54:04.643" v="808" actId="1036"/>
          <ac:spMkLst>
            <pc:docMk/>
            <pc:sldMk cId="0" sldId="260"/>
            <ac:spMk id="63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54:04.643" v="808" actId="1036"/>
          <ac:spMkLst>
            <pc:docMk/>
            <pc:sldMk cId="0" sldId="260"/>
            <ac:spMk id="64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53:18.014" v="776" actId="1036"/>
          <ac:spMkLst>
            <pc:docMk/>
            <pc:sldMk cId="0" sldId="260"/>
            <ac:spMk id="65" creationId="{00000000-0000-0000-0000-000000000000}"/>
          </ac:spMkLst>
        </pc:spChg>
        <pc:spChg chg="mod">
          <ac:chgData name="Luiz Trento" userId="702629114b212db8" providerId="LiveId" clId="{521F1DEA-2C75-418B-A8DF-CD56F058CF88}" dt="2026-09-28T11:53:18.014" v="776" actId="1036"/>
          <ac:spMkLst>
            <pc:docMk/>
            <pc:sldMk cId="0" sldId="260"/>
            <ac:spMk id="66" creationId="{00000000-0000-0000-0000-000000000000}"/>
          </ac:spMkLst>
        </pc:spChg>
        <pc:spChg chg="add mod">
          <ac:chgData name="Luiz Trento" userId="702629114b212db8" providerId="LiveId" clId="{521F1DEA-2C75-418B-A8DF-CD56F058CF88}" dt="2026-09-28T11:35:14.161" v="508" actId="20577"/>
          <ac:spMkLst>
            <pc:docMk/>
            <pc:sldMk cId="0" sldId="260"/>
            <ac:spMk id="72" creationId="{4C232AEE-0360-2EAA-A8C0-B3E3142251E3}"/>
          </ac:spMkLst>
        </pc:spChg>
        <pc:spChg chg="add mod ord">
          <ac:chgData name="Luiz Trento" userId="702629114b212db8" providerId="LiveId" clId="{521F1DEA-2C75-418B-A8DF-CD56F058CF88}" dt="2026-09-28T11:45:12.173" v="716" actId="1076"/>
          <ac:spMkLst>
            <pc:docMk/>
            <pc:sldMk cId="0" sldId="260"/>
            <ac:spMk id="74" creationId="{35C1687C-06D3-F433-AE62-47F8032BF987}"/>
          </ac:spMkLst>
        </pc:spChg>
        <pc:spChg chg="add mod ord">
          <ac:chgData name="Luiz Trento" userId="702629114b212db8" providerId="LiveId" clId="{521F1DEA-2C75-418B-A8DF-CD56F058CF88}" dt="2026-09-28T11:44:57.546" v="715" actId="108"/>
          <ac:spMkLst>
            <pc:docMk/>
            <pc:sldMk cId="0" sldId="260"/>
            <ac:spMk id="76" creationId="{8EC2C58F-5D71-DABA-FA18-F8CEC35E15C6}"/>
          </ac:spMkLst>
        </pc:spChg>
        <pc:spChg chg="add mod">
          <ac:chgData name="Luiz Trento" userId="702629114b212db8" providerId="LiveId" clId="{521F1DEA-2C75-418B-A8DF-CD56F058CF88}" dt="2026-09-28T12:00:03.772" v="906" actId="108"/>
          <ac:spMkLst>
            <pc:docMk/>
            <pc:sldMk cId="0" sldId="260"/>
            <ac:spMk id="94" creationId="{7123CA73-801B-1099-FDCC-CB32E8DC28B4}"/>
          </ac:spMkLst>
        </pc:spChg>
        <pc:spChg chg="add del mod">
          <ac:chgData name="Luiz Trento" userId="702629114b212db8" providerId="LiveId" clId="{521F1DEA-2C75-418B-A8DF-CD56F058CF88}" dt="2026-09-28T12:05:34.931" v="945" actId="1076"/>
          <ac:spMkLst>
            <pc:docMk/>
            <pc:sldMk cId="0" sldId="260"/>
            <ac:spMk id="96" creationId="{2AFD6FC7-4C5C-8F0B-F267-D143F945A87A}"/>
          </ac:spMkLst>
        </pc:spChg>
        <pc:spChg chg="add mod">
          <ac:chgData name="Luiz Trento" userId="702629114b212db8" providerId="LiveId" clId="{521F1DEA-2C75-418B-A8DF-CD56F058CF88}" dt="2026-09-28T12:13:27.118" v="1103" actId="1076"/>
          <ac:spMkLst>
            <pc:docMk/>
            <pc:sldMk cId="0" sldId="260"/>
            <ac:spMk id="98" creationId="{1AA1A767-1CBE-2427-5F20-158E6D580A7F}"/>
          </ac:spMkLst>
        </pc:spChg>
        <pc:spChg chg="add mod">
          <ac:chgData name="Luiz Trento" userId="702629114b212db8" providerId="LiveId" clId="{521F1DEA-2C75-418B-A8DF-CD56F058CF88}" dt="2026-09-28T12:13:53.537" v="1133" actId="6549"/>
          <ac:spMkLst>
            <pc:docMk/>
            <pc:sldMk cId="0" sldId="260"/>
            <ac:spMk id="112" creationId="{E9268413-A16C-6D8B-5EE8-B055F82D0116}"/>
          </ac:spMkLst>
        </pc:spChg>
        <pc:picChg chg="mod">
          <ac:chgData name="Luiz Trento" userId="702629114b212db8" providerId="LiveId" clId="{521F1DEA-2C75-418B-A8DF-CD56F058CF88}" dt="2026-09-28T11:56:56.833" v="863" actId="1076"/>
          <ac:picMkLst>
            <pc:docMk/>
            <pc:sldMk cId="0" sldId="260"/>
            <ac:picMk id="2" creationId="{00000000-0000-0000-0000-000000000000}"/>
          </ac:picMkLst>
        </pc:picChg>
        <pc:picChg chg="del mod">
          <ac:chgData name="Luiz Trento" userId="702629114b212db8" providerId="LiveId" clId="{521F1DEA-2C75-418B-A8DF-CD56F058CF88}" dt="2026-09-28T11:40:25.840" v="662" actId="478"/>
          <ac:picMkLst>
            <pc:docMk/>
            <pc:sldMk cId="0" sldId="260"/>
            <ac:picMk id="7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2:57.229" v="483" actId="1036"/>
          <ac:picMkLst>
            <pc:docMk/>
            <pc:sldMk cId="0" sldId="260"/>
            <ac:picMk id="8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2:57.229" v="483" actId="1036"/>
          <ac:picMkLst>
            <pc:docMk/>
            <pc:sldMk cId="0" sldId="260"/>
            <ac:picMk id="9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3:01.997" v="487" actId="1036"/>
          <ac:picMkLst>
            <pc:docMk/>
            <pc:sldMk cId="0" sldId="260"/>
            <ac:picMk id="12" creationId="{00000000-0000-0000-0000-000000000000}"/>
          </ac:picMkLst>
        </pc:picChg>
        <pc:picChg chg="del mod">
          <ac:chgData name="Luiz Trento" userId="702629114b212db8" providerId="LiveId" clId="{521F1DEA-2C75-418B-A8DF-CD56F058CF88}" dt="2026-09-28T11:41:35.156" v="673" actId="478"/>
          <ac:picMkLst>
            <pc:docMk/>
            <pc:sldMk cId="0" sldId="260"/>
            <ac:picMk id="13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2:29.081" v="449" actId="1036"/>
          <ac:picMkLst>
            <pc:docMk/>
            <pc:sldMk cId="0" sldId="260"/>
            <ac:picMk id="14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2:29.081" v="449" actId="1036"/>
          <ac:picMkLst>
            <pc:docMk/>
            <pc:sldMk cId="0" sldId="260"/>
            <ac:picMk id="15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2:18.998" v="443" actId="1036"/>
          <ac:picMkLst>
            <pc:docMk/>
            <pc:sldMk cId="0" sldId="260"/>
            <ac:picMk id="18" creationId="{00000000-0000-0000-0000-000000000000}"/>
          </ac:picMkLst>
        </pc:picChg>
        <pc:picChg chg="del mod">
          <ac:chgData name="Luiz Trento" userId="702629114b212db8" providerId="LiveId" clId="{521F1DEA-2C75-418B-A8DF-CD56F058CF88}" dt="2026-09-28T11:41:36.446" v="674" actId="478"/>
          <ac:picMkLst>
            <pc:docMk/>
            <pc:sldMk cId="0" sldId="260"/>
            <ac:picMk id="19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1:00.493" v="383" actId="1036"/>
          <ac:picMkLst>
            <pc:docMk/>
            <pc:sldMk cId="0" sldId="260"/>
            <ac:picMk id="20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1:00.493" v="383" actId="1036"/>
          <ac:picMkLst>
            <pc:docMk/>
            <pc:sldMk cId="0" sldId="260"/>
            <ac:picMk id="21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1:03.899" v="385" actId="1036"/>
          <ac:picMkLst>
            <pc:docMk/>
            <pc:sldMk cId="0" sldId="260"/>
            <ac:picMk id="24" creationId="{00000000-0000-0000-0000-000000000000}"/>
          </ac:picMkLst>
        </pc:picChg>
        <pc:picChg chg="del mod">
          <ac:chgData name="Luiz Trento" userId="702629114b212db8" providerId="LiveId" clId="{521F1DEA-2C75-418B-A8DF-CD56F058CF88}" dt="2026-09-28T11:41:37.663" v="675" actId="478"/>
          <ac:picMkLst>
            <pc:docMk/>
            <pc:sldMk cId="0" sldId="260"/>
            <ac:picMk id="25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0:24.104" v="326" actId="1036"/>
          <ac:picMkLst>
            <pc:docMk/>
            <pc:sldMk cId="0" sldId="260"/>
            <ac:picMk id="26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0:24.104" v="326" actId="1036"/>
          <ac:picMkLst>
            <pc:docMk/>
            <pc:sldMk cId="0" sldId="260"/>
            <ac:picMk id="27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29:44.934" v="290" actId="1035"/>
          <ac:picMkLst>
            <pc:docMk/>
            <pc:sldMk cId="0" sldId="260"/>
            <ac:picMk id="30" creationId="{00000000-0000-0000-0000-000000000000}"/>
          </ac:picMkLst>
        </pc:picChg>
        <pc:picChg chg="del mod">
          <ac:chgData name="Luiz Trento" userId="702629114b212db8" providerId="LiveId" clId="{521F1DEA-2C75-418B-A8DF-CD56F058CF88}" dt="2026-09-28T11:41:50.178" v="677" actId="478"/>
          <ac:picMkLst>
            <pc:docMk/>
            <pc:sldMk cId="0" sldId="260"/>
            <ac:picMk id="31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1:41.648" v="397" actId="1036"/>
          <ac:picMkLst>
            <pc:docMk/>
            <pc:sldMk cId="0" sldId="260"/>
            <ac:picMk id="32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1:41.648" v="397" actId="1036"/>
          <ac:picMkLst>
            <pc:docMk/>
            <pc:sldMk cId="0" sldId="260"/>
            <ac:picMk id="33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1:45.734" v="399" actId="1036"/>
          <ac:picMkLst>
            <pc:docMk/>
            <pc:sldMk cId="0" sldId="260"/>
            <ac:picMk id="36" creationId="{00000000-0000-0000-0000-000000000000}"/>
          </ac:picMkLst>
        </pc:picChg>
        <pc:picChg chg="del mod">
          <ac:chgData name="Luiz Trento" userId="702629114b212db8" providerId="LiveId" clId="{521F1DEA-2C75-418B-A8DF-CD56F058CF88}" dt="2026-09-28T11:41:39.383" v="676" actId="478"/>
          <ac:picMkLst>
            <pc:docMk/>
            <pc:sldMk cId="0" sldId="260"/>
            <ac:picMk id="37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1:26.231" v="394" actId="1036"/>
          <ac:picMkLst>
            <pc:docMk/>
            <pc:sldMk cId="0" sldId="260"/>
            <ac:picMk id="38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31:26.231" v="394" actId="1036"/>
          <ac:picMkLst>
            <pc:docMk/>
            <pc:sldMk cId="0" sldId="260"/>
            <ac:picMk id="39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54:04.643" v="808" actId="1036"/>
          <ac:picMkLst>
            <pc:docMk/>
            <pc:sldMk cId="0" sldId="260"/>
            <ac:picMk id="46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54:04.643" v="808" actId="1036"/>
          <ac:picMkLst>
            <pc:docMk/>
            <pc:sldMk cId="0" sldId="260"/>
            <ac:picMk id="47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53:18.014" v="776" actId="1036"/>
          <ac:picMkLst>
            <pc:docMk/>
            <pc:sldMk cId="0" sldId="260"/>
            <ac:picMk id="49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53:18.014" v="776" actId="1036"/>
          <ac:picMkLst>
            <pc:docMk/>
            <pc:sldMk cId="0" sldId="260"/>
            <ac:picMk id="50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2:03:43.787" v="933" actId="1076"/>
          <ac:picMkLst>
            <pc:docMk/>
            <pc:sldMk cId="0" sldId="260"/>
            <ac:picMk id="51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54:23.834" v="810" actId="1076"/>
          <ac:picMkLst>
            <pc:docMk/>
            <pc:sldMk cId="0" sldId="260"/>
            <ac:picMk id="52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54:04.643" v="808" actId="1036"/>
          <ac:picMkLst>
            <pc:docMk/>
            <pc:sldMk cId="0" sldId="260"/>
            <ac:picMk id="53" creationId="{00000000-0000-0000-0000-000000000000}"/>
          </ac:picMkLst>
        </pc:picChg>
        <pc:picChg chg="mod">
          <ac:chgData name="Luiz Trento" userId="702629114b212db8" providerId="LiveId" clId="{521F1DEA-2C75-418B-A8DF-CD56F058CF88}" dt="2026-09-28T11:53:18.014" v="776" actId="1036"/>
          <ac:picMkLst>
            <pc:docMk/>
            <pc:sldMk cId="0" sldId="260"/>
            <ac:picMk id="54" creationId="{00000000-0000-0000-0000-000000000000}"/>
          </ac:picMkLst>
        </pc:picChg>
        <pc:picChg chg="add mod">
          <ac:chgData name="Luiz Trento" userId="702629114b212db8" providerId="LiveId" clId="{521F1DEA-2C75-418B-A8DF-CD56F058CF88}" dt="2026-09-28T11:31:15.592" v="387" actId="571"/>
          <ac:picMkLst>
            <pc:docMk/>
            <pc:sldMk cId="0" sldId="260"/>
            <ac:picMk id="69" creationId="{877E639C-2966-FECA-9CEB-3633EF13B283}"/>
          </ac:picMkLst>
        </pc:picChg>
        <pc:picChg chg="add mod">
          <ac:chgData name="Luiz Trento" userId="702629114b212db8" providerId="LiveId" clId="{521F1DEA-2C75-418B-A8DF-CD56F058CF88}" dt="2026-09-28T11:31:15.592" v="387" actId="571"/>
          <ac:picMkLst>
            <pc:docMk/>
            <pc:sldMk cId="0" sldId="260"/>
            <ac:picMk id="70" creationId="{B44E1023-A62C-6BF7-DF72-4569A44170FE}"/>
          </ac:picMkLst>
        </pc:picChg>
        <pc:picChg chg="add del mod">
          <ac:chgData name="Luiz Trento" userId="702629114b212db8" providerId="LiveId" clId="{521F1DEA-2C75-418B-A8DF-CD56F058CF88}" dt="2026-09-28T11:38:13.208" v="646" actId="22"/>
          <ac:picMkLst>
            <pc:docMk/>
            <pc:sldMk cId="0" sldId="260"/>
            <ac:picMk id="78" creationId="{33CA4AF7-E624-C0C3-0A43-D566E1220987}"/>
          </ac:picMkLst>
        </pc:picChg>
        <pc:picChg chg="add mod ord">
          <ac:chgData name="Luiz Trento" userId="702629114b212db8" providerId="LiveId" clId="{521F1DEA-2C75-418B-A8DF-CD56F058CF88}" dt="2026-09-28T11:40:01.205" v="658" actId="166"/>
          <ac:picMkLst>
            <pc:docMk/>
            <pc:sldMk cId="0" sldId="260"/>
            <ac:picMk id="80" creationId="{1CEE96B8-54C0-6B31-3DF9-B85B2BA5F326}"/>
          </ac:picMkLst>
        </pc:picChg>
        <pc:picChg chg="add mod ord">
          <ac:chgData name="Luiz Trento" userId="702629114b212db8" providerId="LiveId" clId="{521F1DEA-2C75-418B-A8DF-CD56F058CF88}" dt="2026-09-28T11:40:01.205" v="658" actId="166"/>
          <ac:picMkLst>
            <pc:docMk/>
            <pc:sldMk cId="0" sldId="260"/>
            <ac:picMk id="82" creationId="{FD16966C-7CDA-50B4-46A6-C6FC5B8F82BC}"/>
          </ac:picMkLst>
        </pc:picChg>
        <pc:picChg chg="add mod ord">
          <ac:chgData name="Luiz Trento" userId="702629114b212db8" providerId="LiveId" clId="{521F1DEA-2C75-418B-A8DF-CD56F058CF88}" dt="2026-09-28T11:39:30.955" v="654" actId="167"/>
          <ac:picMkLst>
            <pc:docMk/>
            <pc:sldMk cId="0" sldId="260"/>
            <ac:picMk id="84" creationId="{4EA0769A-CE02-1CA3-EE5A-060F3BE1FA54}"/>
          </ac:picMkLst>
        </pc:picChg>
        <pc:picChg chg="add del mod">
          <ac:chgData name="Luiz Trento" userId="702629114b212db8" providerId="LiveId" clId="{521F1DEA-2C75-418B-A8DF-CD56F058CF88}" dt="2026-09-28T11:40:23.494" v="661" actId="478"/>
          <ac:picMkLst>
            <pc:docMk/>
            <pc:sldMk cId="0" sldId="260"/>
            <ac:picMk id="86" creationId="{B09C65E6-D34C-3BD5-581F-9CAF4A12A2E3}"/>
          </ac:picMkLst>
        </pc:picChg>
        <pc:picChg chg="add mod">
          <ac:chgData name="Luiz Trento" userId="702629114b212db8" providerId="LiveId" clId="{521F1DEA-2C75-418B-A8DF-CD56F058CF88}" dt="2026-09-28T11:40:39.874" v="664" actId="1076"/>
          <ac:picMkLst>
            <pc:docMk/>
            <pc:sldMk cId="0" sldId="260"/>
            <ac:picMk id="88" creationId="{ED613099-F4C7-2A38-D73B-BBF0346835EB}"/>
          </ac:picMkLst>
        </pc:picChg>
        <pc:picChg chg="add mod ord">
          <ac:chgData name="Luiz Trento" userId="702629114b212db8" providerId="LiveId" clId="{521F1DEA-2C75-418B-A8DF-CD56F058CF88}" dt="2026-09-28T11:41:02.235" v="668" actId="1076"/>
          <ac:picMkLst>
            <pc:docMk/>
            <pc:sldMk cId="0" sldId="260"/>
            <ac:picMk id="90" creationId="{CA17EA3F-D466-F638-60FD-8E2FCC7F9538}"/>
          </ac:picMkLst>
        </pc:picChg>
        <pc:picChg chg="add mod ord">
          <ac:chgData name="Luiz Trento" userId="702629114b212db8" providerId="LiveId" clId="{521F1DEA-2C75-418B-A8DF-CD56F058CF88}" dt="2026-09-28T11:41:22.153" v="672" actId="167"/>
          <ac:picMkLst>
            <pc:docMk/>
            <pc:sldMk cId="0" sldId="260"/>
            <ac:picMk id="92" creationId="{8A20A86F-0F55-A504-C1DF-13D339ECE6D4}"/>
          </ac:picMkLst>
        </pc:picChg>
        <pc:picChg chg="add mod ord">
          <ac:chgData name="Luiz Trento" userId="702629114b212db8" providerId="LiveId" clId="{521F1DEA-2C75-418B-A8DF-CD56F058CF88}" dt="2026-09-28T12:02:12.279" v="932" actId="167"/>
          <ac:picMkLst>
            <pc:docMk/>
            <pc:sldMk cId="0" sldId="260"/>
            <ac:picMk id="100" creationId="{78C340D3-FB78-DD4C-1D58-FD40CEFD2D7E}"/>
          </ac:picMkLst>
        </pc:picChg>
        <pc:picChg chg="add mod">
          <ac:chgData name="Luiz Trento" userId="702629114b212db8" providerId="LiveId" clId="{521F1DEA-2C75-418B-A8DF-CD56F058CF88}" dt="2026-09-28T12:05:53.497" v="955" actId="1038"/>
          <ac:picMkLst>
            <pc:docMk/>
            <pc:sldMk cId="0" sldId="260"/>
            <ac:picMk id="102" creationId="{4B9B53A7-1C3B-D6D5-778E-04083FB51D20}"/>
          </ac:picMkLst>
        </pc:picChg>
        <pc:picChg chg="add mod">
          <ac:chgData name="Luiz Trento" userId="702629114b212db8" providerId="LiveId" clId="{521F1DEA-2C75-418B-A8DF-CD56F058CF88}" dt="2026-09-28T12:05:53.497" v="955" actId="1038"/>
          <ac:picMkLst>
            <pc:docMk/>
            <pc:sldMk cId="0" sldId="260"/>
            <ac:picMk id="104" creationId="{258E9A10-4D71-E7A8-A50B-428725DEF86F}"/>
          </ac:picMkLst>
        </pc:picChg>
        <pc:picChg chg="add mod">
          <ac:chgData name="Luiz Trento" userId="702629114b212db8" providerId="LiveId" clId="{521F1DEA-2C75-418B-A8DF-CD56F058CF88}" dt="2026-09-28T12:05:32.312" v="944" actId="1076"/>
          <ac:picMkLst>
            <pc:docMk/>
            <pc:sldMk cId="0" sldId="260"/>
            <ac:picMk id="106" creationId="{138F35AA-DA8A-9D29-DC66-378AEF02B54D}"/>
          </ac:picMkLst>
        </pc:picChg>
        <pc:picChg chg="add mod">
          <ac:chgData name="Luiz Trento" userId="702629114b212db8" providerId="LiveId" clId="{521F1DEA-2C75-418B-A8DF-CD56F058CF88}" dt="2026-09-28T12:05:32.312" v="944" actId="1076"/>
          <ac:picMkLst>
            <pc:docMk/>
            <pc:sldMk cId="0" sldId="260"/>
            <ac:picMk id="108" creationId="{56C5F7DF-A4B2-7C5F-806A-FE6E4E302AC7}"/>
          </ac:picMkLst>
        </pc:picChg>
        <pc:picChg chg="add del mod">
          <ac:chgData name="Luiz Trento" userId="702629114b212db8" providerId="LiveId" clId="{521F1DEA-2C75-418B-A8DF-CD56F058CF88}" dt="2026-09-28T12:05:43.685" v="948" actId="478"/>
          <ac:picMkLst>
            <pc:docMk/>
            <pc:sldMk cId="0" sldId="260"/>
            <ac:picMk id="109" creationId="{8D01944C-563C-00F9-999A-4E9CB880CCC4}"/>
          </ac:picMkLst>
        </pc:picChg>
        <pc:picChg chg="add del mod">
          <ac:chgData name="Luiz Trento" userId="702629114b212db8" providerId="LiveId" clId="{521F1DEA-2C75-418B-A8DF-CD56F058CF88}" dt="2026-09-28T12:05:43.685" v="948" actId="478"/>
          <ac:picMkLst>
            <pc:docMk/>
            <pc:sldMk cId="0" sldId="260"/>
            <ac:picMk id="110" creationId="{7F7B1031-D0A2-3215-A4E6-AB060626D448}"/>
          </ac:picMkLst>
        </pc:picChg>
        <pc:picChg chg="add mod">
          <ac:chgData name="Luiz Trento" userId="702629114b212db8" providerId="LiveId" clId="{521F1DEA-2C75-418B-A8DF-CD56F058CF88}" dt="2026-09-28T12:08:49.462" v="1017" actId="1076"/>
          <ac:picMkLst>
            <pc:docMk/>
            <pc:sldMk cId="0" sldId="260"/>
            <ac:picMk id="114" creationId="{0F6DDAE2-0091-BC1B-1862-42D80F4D7DDE}"/>
          </ac:picMkLst>
        </pc:picChg>
        <pc:picChg chg="add mod">
          <ac:chgData name="Luiz Trento" userId="702629114b212db8" providerId="LiveId" clId="{521F1DEA-2C75-418B-A8DF-CD56F058CF88}" dt="2026-09-28T12:09:00.209" v="1019" actId="1076"/>
          <ac:picMkLst>
            <pc:docMk/>
            <pc:sldMk cId="0" sldId="260"/>
            <ac:picMk id="116" creationId="{411542BA-288E-683A-59BC-2C8E9246C64E}"/>
          </ac:picMkLst>
        </pc:picChg>
      </pc:sldChg>
      <pc:sldChg chg="modSp mod">
        <pc:chgData name="Luiz Trento" userId="702629114b212db8" providerId="LiveId" clId="{521F1DEA-2C75-418B-A8DF-CD56F058CF88}" dt="2026-09-27T14:40:51.763" v="37" actId="20577"/>
        <pc:sldMkLst>
          <pc:docMk/>
          <pc:sldMk cId="0" sldId="261"/>
        </pc:sldMkLst>
        <pc:spChg chg="mod">
          <ac:chgData name="Luiz Trento" userId="702629114b212db8" providerId="LiveId" clId="{521F1DEA-2C75-418B-A8DF-CD56F058CF88}" dt="2026-09-27T14:40:46.296" v="35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40:35.093" v="29" actId="20577"/>
          <ac:spMkLst>
            <pc:docMk/>
            <pc:sldMk cId="0" sldId="261"/>
            <ac:spMk id="29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40:37.804" v="31" actId="20577"/>
          <ac:spMkLst>
            <pc:docMk/>
            <pc:sldMk cId="0" sldId="261"/>
            <ac:spMk id="37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40:51.763" v="37" actId="20577"/>
          <ac:spMkLst>
            <pc:docMk/>
            <pc:sldMk cId="0" sldId="261"/>
            <ac:spMk id="48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40:43.098" v="33" actId="20577"/>
          <ac:spMkLst>
            <pc:docMk/>
            <pc:sldMk cId="0" sldId="261"/>
            <ac:spMk id="50" creationId="{00000000-0000-0000-0000-000000000000}"/>
          </ac:spMkLst>
        </pc:spChg>
      </pc:sldChg>
      <pc:sldChg chg="delSp modSp mod">
        <pc:chgData name="Luiz Trento" userId="702629114b212db8" providerId="LiveId" clId="{521F1DEA-2C75-418B-A8DF-CD56F058CF88}" dt="2026-09-27T14:41:39.455" v="42" actId="478"/>
        <pc:sldMkLst>
          <pc:docMk/>
          <pc:sldMk cId="0" sldId="262"/>
        </pc:sldMkLst>
        <pc:spChg chg="del">
          <ac:chgData name="Luiz Trento" userId="702629114b212db8" providerId="LiveId" clId="{521F1DEA-2C75-418B-A8DF-CD56F058CF88}" dt="2026-09-27T14:41:32.621" v="41" actId="478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Luiz Trento" userId="702629114b212db8" providerId="LiveId" clId="{521F1DEA-2C75-418B-A8DF-CD56F058CF88}" dt="2026-09-27T14:41:30.401" v="40" actId="478"/>
          <ac:spMkLst>
            <pc:docMk/>
            <pc:sldMk cId="0" sldId="262"/>
            <ac:spMk id="7" creationId="{00000000-0000-0000-0000-000000000000}"/>
          </ac:spMkLst>
        </pc:spChg>
        <pc:picChg chg="del">
          <ac:chgData name="Luiz Trento" userId="702629114b212db8" providerId="LiveId" clId="{521F1DEA-2C75-418B-A8DF-CD56F058CF88}" dt="2026-09-27T14:41:39.455" v="42" actId="478"/>
          <ac:picMkLst>
            <pc:docMk/>
            <pc:sldMk cId="0" sldId="262"/>
            <ac:picMk id="3" creationId="{00000000-0000-0000-0000-000000000000}"/>
          </ac:picMkLst>
        </pc:picChg>
      </pc:sldChg>
      <pc:sldChg chg="modSp mod">
        <pc:chgData name="Luiz Trento" userId="702629114b212db8" providerId="LiveId" clId="{521F1DEA-2C75-418B-A8DF-CD56F058CF88}" dt="2026-09-27T14:42:02.628" v="43" actId="2711"/>
        <pc:sldMkLst>
          <pc:docMk/>
          <pc:sldMk cId="0" sldId="263"/>
        </pc:sldMkLst>
        <pc:graphicFrameChg chg="modGraphic">
          <ac:chgData name="Luiz Trento" userId="702629114b212db8" providerId="LiveId" clId="{521F1DEA-2C75-418B-A8DF-CD56F058CF88}" dt="2026-09-27T14:42:02.628" v="43" actId="2711"/>
          <ac:graphicFrameMkLst>
            <pc:docMk/>
            <pc:sldMk cId="0" sldId="263"/>
            <ac:graphicFrameMk id="10" creationId="{00000000-0000-0000-0000-000000000000}"/>
          </ac:graphicFrameMkLst>
        </pc:graphicFrameChg>
      </pc:sldChg>
      <pc:sldChg chg="modSp mod">
        <pc:chgData name="Luiz Trento" userId="702629114b212db8" providerId="LiveId" clId="{521F1DEA-2C75-418B-A8DF-CD56F058CF88}" dt="2026-09-27T14:48:43.085" v="84" actId="2711"/>
        <pc:sldMkLst>
          <pc:docMk/>
          <pc:sldMk cId="0" sldId="264"/>
        </pc:sldMkLst>
        <pc:spChg chg="mod">
          <ac:chgData name="Luiz Trento" userId="702629114b212db8" providerId="LiveId" clId="{521F1DEA-2C75-418B-A8DF-CD56F058CF88}" dt="2026-09-27T14:48:36.103" v="83" actId="2711"/>
          <ac:spMkLst>
            <pc:docMk/>
            <pc:sldMk cId="0" sldId="264"/>
            <ac:spMk id="26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48:43.085" v="84" actId="2711"/>
          <ac:spMkLst>
            <pc:docMk/>
            <pc:sldMk cId="0" sldId="264"/>
            <ac:spMk id="29" creationId="{00000000-0000-0000-0000-000000000000}"/>
          </ac:spMkLst>
        </pc:spChg>
        <pc:graphicFrameChg chg="mod modGraphic">
          <ac:chgData name="Luiz Trento" userId="702629114b212db8" providerId="LiveId" clId="{521F1DEA-2C75-418B-A8DF-CD56F058CF88}" dt="2026-09-27T14:48:13.035" v="82" actId="207"/>
          <ac:graphicFrameMkLst>
            <pc:docMk/>
            <pc:sldMk cId="0" sldId="264"/>
            <ac:graphicFrameMk id="12" creationId="{00000000-0000-0000-0000-000000000000}"/>
          </ac:graphicFrameMkLst>
        </pc:graphicFrameChg>
      </pc:sldChg>
      <pc:sldChg chg="modSp mod">
        <pc:chgData name="Luiz Trento" userId="702629114b212db8" providerId="LiveId" clId="{521F1DEA-2C75-418B-A8DF-CD56F058CF88}" dt="2026-09-27T14:49:42.974" v="90" actId="20577"/>
        <pc:sldMkLst>
          <pc:docMk/>
          <pc:sldMk cId="0" sldId="265"/>
        </pc:sldMkLst>
        <pc:spChg chg="mod">
          <ac:chgData name="Luiz Trento" userId="702629114b212db8" providerId="LiveId" clId="{521F1DEA-2C75-418B-A8DF-CD56F058CF88}" dt="2026-09-27T14:49:42.974" v="90" actId="20577"/>
          <ac:spMkLst>
            <pc:docMk/>
            <pc:sldMk cId="0" sldId="265"/>
            <ac:spMk id="28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49:17.560" v="86" actId="20577"/>
          <ac:spMkLst>
            <pc:docMk/>
            <pc:sldMk cId="0" sldId="265"/>
            <ac:spMk id="45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49:33.023" v="88" actId="20577"/>
          <ac:spMkLst>
            <pc:docMk/>
            <pc:sldMk cId="0" sldId="265"/>
            <ac:spMk id="46" creationId="{00000000-0000-0000-0000-000000000000}"/>
          </ac:spMkLst>
        </pc:spChg>
      </pc:sldChg>
      <pc:sldChg chg="delSp mod">
        <pc:chgData name="Luiz Trento" userId="702629114b212db8" providerId="LiveId" clId="{521F1DEA-2C75-418B-A8DF-CD56F058CF88}" dt="2026-09-27T14:50:34.532" v="93" actId="478"/>
        <pc:sldMkLst>
          <pc:docMk/>
          <pc:sldMk cId="0" sldId="266"/>
        </pc:sldMkLst>
        <pc:picChg chg="del">
          <ac:chgData name="Luiz Trento" userId="702629114b212db8" providerId="LiveId" clId="{521F1DEA-2C75-418B-A8DF-CD56F058CF88}" dt="2026-09-27T14:50:31.730" v="91" actId="478"/>
          <ac:picMkLst>
            <pc:docMk/>
            <pc:sldMk cId="0" sldId="266"/>
            <ac:picMk id="13" creationId="{00000000-0000-0000-0000-000000000000}"/>
          </ac:picMkLst>
        </pc:picChg>
        <pc:picChg chg="del">
          <ac:chgData name="Luiz Trento" userId="702629114b212db8" providerId="LiveId" clId="{521F1DEA-2C75-418B-A8DF-CD56F058CF88}" dt="2026-09-27T14:50:33.169" v="92" actId="478"/>
          <ac:picMkLst>
            <pc:docMk/>
            <pc:sldMk cId="0" sldId="266"/>
            <ac:picMk id="22" creationId="{00000000-0000-0000-0000-000000000000}"/>
          </ac:picMkLst>
        </pc:picChg>
        <pc:picChg chg="del">
          <ac:chgData name="Luiz Trento" userId="702629114b212db8" providerId="LiveId" clId="{521F1DEA-2C75-418B-A8DF-CD56F058CF88}" dt="2026-09-27T14:50:34.532" v="93" actId="478"/>
          <ac:picMkLst>
            <pc:docMk/>
            <pc:sldMk cId="0" sldId="266"/>
            <ac:picMk id="31" creationId="{00000000-0000-0000-0000-000000000000}"/>
          </ac:picMkLst>
        </pc:picChg>
      </pc:sldChg>
      <pc:sldChg chg="modSp mod">
        <pc:chgData name="Luiz Trento" userId="702629114b212db8" providerId="LiveId" clId="{521F1DEA-2C75-418B-A8DF-CD56F058CF88}" dt="2026-09-27T14:51:29.713" v="99" actId="20577"/>
        <pc:sldMkLst>
          <pc:docMk/>
          <pc:sldMk cId="0" sldId="267"/>
        </pc:sldMkLst>
        <pc:spChg chg="mod">
          <ac:chgData name="Luiz Trento" userId="702629114b212db8" providerId="LiveId" clId="{521F1DEA-2C75-418B-A8DF-CD56F058CF88}" dt="2026-09-27T14:50:57.693" v="95" actId="20577"/>
          <ac:spMkLst>
            <pc:docMk/>
            <pc:sldMk cId="0" sldId="267"/>
            <ac:spMk id="15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51:18.747" v="97" actId="20577"/>
          <ac:spMkLst>
            <pc:docMk/>
            <pc:sldMk cId="0" sldId="267"/>
            <ac:spMk id="29" creationId="{00000000-0000-0000-0000-000000000000}"/>
          </ac:spMkLst>
        </pc:spChg>
        <pc:spChg chg="mod">
          <ac:chgData name="Luiz Trento" userId="702629114b212db8" providerId="LiveId" clId="{521F1DEA-2C75-418B-A8DF-CD56F058CF88}" dt="2026-09-27T14:51:29.713" v="99" actId="20577"/>
          <ac:spMkLst>
            <pc:docMk/>
            <pc:sldMk cId="0" sldId="267"/>
            <ac:spMk id="30" creationId="{00000000-0000-0000-0000-000000000000}"/>
          </ac:spMkLst>
        </pc:spChg>
      </pc:sldChg>
      <pc:sldChg chg="addSp delSp mod">
        <pc:chgData name="Luiz Trento" userId="702629114b212db8" providerId="LiveId" clId="{521F1DEA-2C75-418B-A8DF-CD56F058CF88}" dt="2026-09-27T14:52:39.113" v="105" actId="22"/>
        <pc:sldMkLst>
          <pc:docMk/>
          <pc:sldMk cId="0" sldId="268"/>
        </pc:sldMkLst>
        <pc:picChg chg="add del">
          <ac:chgData name="Luiz Trento" userId="702629114b212db8" providerId="LiveId" clId="{521F1DEA-2C75-418B-A8DF-CD56F058CF88}" dt="2026-09-27T14:52:39.113" v="105" actId="22"/>
          <ac:picMkLst>
            <pc:docMk/>
            <pc:sldMk cId="0" sldId="268"/>
            <ac:picMk id="38" creationId="{D8DC03B8-3840-5CF5-D801-68D3822619DA}"/>
          </ac:picMkLst>
        </pc:picChg>
      </pc:sldChg>
      <pc:sldChg chg="modSp mod">
        <pc:chgData name="Luiz Trento" userId="702629114b212db8" providerId="LiveId" clId="{521F1DEA-2C75-418B-A8DF-CD56F058CF88}" dt="2026-09-27T14:51:50.188" v="101" actId="20577"/>
        <pc:sldMkLst>
          <pc:docMk/>
          <pc:sldMk cId="0" sldId="270"/>
        </pc:sldMkLst>
        <pc:spChg chg="mod">
          <ac:chgData name="Luiz Trento" userId="702629114b212db8" providerId="LiveId" clId="{521F1DEA-2C75-418B-A8DF-CD56F058CF88}" dt="2026-09-27T14:51:50.188" v="101" actId="20577"/>
          <ac:spMkLst>
            <pc:docMk/>
            <pc:sldMk cId="0" sldId="270"/>
            <ac:spMk id="26" creationId="{00000000-0000-0000-0000-000000000000}"/>
          </ac:spMkLst>
        </pc:spChg>
      </pc:sldChg>
      <pc:sldChg chg="add del setBg">
        <pc:chgData name="Luiz Trento" userId="702629114b212db8" providerId="LiveId" clId="{521F1DEA-2C75-418B-A8DF-CD56F058CF88}" dt="2026-09-27T14:52:30.388" v="103"/>
        <pc:sldMkLst>
          <pc:docMk/>
          <pc:sldMk cId="0" sldId="273"/>
        </pc:sldMkLst>
      </pc:sldChg>
      <pc:sldChg chg="addSp delSp modSp new mod setBg">
        <pc:chgData name="Luiz Trento" userId="702629114b212db8" providerId="LiveId" clId="{521F1DEA-2C75-418B-A8DF-CD56F058CF88}" dt="2026-09-28T13:03:05.221" v="1145" actId="26606"/>
        <pc:sldMkLst>
          <pc:docMk/>
          <pc:sldMk cId="4225133665" sldId="273"/>
        </pc:sldMkLst>
        <pc:spChg chg="add">
          <ac:chgData name="Luiz Trento" userId="702629114b212db8" providerId="LiveId" clId="{521F1DEA-2C75-418B-A8DF-CD56F058CF88}" dt="2026-09-28T13:03:05.221" v="1145" actId="26606"/>
          <ac:spMkLst>
            <pc:docMk/>
            <pc:sldMk cId="4225133665" sldId="273"/>
            <ac:spMk id="8" creationId="{AB8C311F-7253-4AED-9701-7FC0708C41C7}"/>
          </ac:spMkLst>
        </pc:spChg>
        <pc:spChg chg="add">
          <ac:chgData name="Luiz Trento" userId="702629114b212db8" providerId="LiveId" clId="{521F1DEA-2C75-418B-A8DF-CD56F058CF88}" dt="2026-09-28T13:03:05.221" v="1145" actId="26606"/>
          <ac:spMkLst>
            <pc:docMk/>
            <pc:sldMk cId="4225133665" sldId="273"/>
            <ac:spMk id="10" creationId="{E2384209-CB15-4CDF-9D31-C44FD9A3F20D}"/>
          </ac:spMkLst>
        </pc:spChg>
        <pc:spChg chg="add">
          <ac:chgData name="Luiz Trento" userId="702629114b212db8" providerId="LiveId" clId="{521F1DEA-2C75-418B-A8DF-CD56F058CF88}" dt="2026-09-28T13:03:05.221" v="1145" actId="26606"/>
          <ac:spMkLst>
            <pc:docMk/>
            <pc:sldMk cId="4225133665" sldId="273"/>
            <ac:spMk id="12" creationId="{2633B3B5-CC90-43F0-8714-D31D1F3F0209}"/>
          </ac:spMkLst>
        </pc:spChg>
        <pc:spChg chg="add">
          <ac:chgData name="Luiz Trento" userId="702629114b212db8" providerId="LiveId" clId="{521F1DEA-2C75-418B-A8DF-CD56F058CF88}" dt="2026-09-28T13:03:05.221" v="1145" actId="26606"/>
          <ac:spMkLst>
            <pc:docMk/>
            <pc:sldMk cId="4225133665" sldId="273"/>
            <ac:spMk id="14" creationId="{A8D57A06-A426-446D-B02C-A2DC6B62E45E}"/>
          </ac:spMkLst>
        </pc:spChg>
        <pc:picChg chg="add mod">
          <ac:chgData name="Luiz Trento" userId="702629114b212db8" providerId="LiveId" clId="{521F1DEA-2C75-418B-A8DF-CD56F058CF88}" dt="2026-09-28T13:03:05.221" v="1145" actId="26606"/>
          <ac:picMkLst>
            <pc:docMk/>
            <pc:sldMk cId="4225133665" sldId="273"/>
            <ac:picMk id="3" creationId="{DAF24593-4075-21D0-38B8-9E57E2FFD814}"/>
          </ac:picMkLst>
        </pc:picChg>
        <pc:picChg chg="add del mod">
          <ac:chgData name="Luiz Trento" userId="702629114b212db8" providerId="LiveId" clId="{521F1DEA-2C75-418B-A8DF-CD56F058CF88}" dt="2026-09-28T13:02:52.092" v="1144" actId="478"/>
          <ac:picMkLst>
            <pc:docMk/>
            <pc:sldMk cId="4225133665" sldId="273"/>
            <ac:picMk id="4" creationId="{AEA6AE71-F346-411C-402E-BADFFCAB7308}"/>
          </ac:picMkLst>
        </pc:picChg>
      </pc:sldChg>
      <pc:sldChg chg="add del setBg">
        <pc:chgData name="Luiz Trento" userId="702629114b212db8" providerId="LiveId" clId="{521F1DEA-2C75-418B-A8DF-CD56F058CF88}" dt="2026-09-27T14:53:04.085" v="108"/>
        <pc:sldMkLst>
          <pc:docMk/>
          <pc:sldMk cId="0" sldId="274"/>
        </pc:sldMkLst>
      </pc:sldChg>
      <pc:sldChg chg="add del">
        <pc:chgData name="Luiz Trento" userId="702629114b212db8" providerId="LiveId" clId="{521F1DEA-2C75-418B-A8DF-CD56F058CF88}" dt="2026-09-28T13:02:16.528" v="1135"/>
        <pc:sldMkLst>
          <pc:docMk/>
          <pc:sldMk cId="4125008495" sldId="27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xMode val="edge"/>
          <c:yMode val="edge"/>
          <c:x val="0.03"/>
          <c:y val="0.03"/>
          <c:w val="0.94"/>
          <c:h val="0.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WMAPE (%)</c:v>
                </c:pt>
              </c:strCache>
            </c:strRef>
          </c:tx>
          <c:spPr>
            <a:solidFill>
              <a:srgbClr val="F5A623">
                <a:alpha val="74902"/>
              </a:srgbClr>
            </a:solidFill>
            <a:ln w="19050">
              <a:solidFill>
                <a:srgbClr val="F5A623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Exp. Smoothing</c:v>
                </c:pt>
                <c:pt idx="1">
                  <c:v>AutoARIMA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12.6</c:v>
                </c:pt>
                <c:pt idx="1">
                  <c:v>13.8</c:v>
                </c:pt>
                <c:pt idx="2">
                  <c:v>16.3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F5A62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6E6-4782-A846-9F452C15BA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Abs. Bias (×10k)</c:v>
                </c:pt>
              </c:strCache>
            </c:strRef>
          </c:tx>
          <c:spPr>
            <a:solidFill>
              <a:srgbClr val="EF8080">
                <a:alpha val="74902"/>
              </a:srgbClr>
            </a:solidFill>
            <a:ln w="19050">
              <a:solidFill>
                <a:srgbClr val="EF8080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Exp. Smoothing</c:v>
                </c:pt>
                <c:pt idx="1">
                  <c:v>AutoARIMA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29.23</c:v>
                </c:pt>
                <c:pt idx="1">
                  <c:v>18.82</c:v>
                </c:pt>
                <c:pt idx="2">
                  <c:v>33.14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EF808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6E6-4782-A846-9F452C15BA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 w="12700">
              <a:solidFill>
                <a:srgbClr val="F9FBFC">
                  <a:alpha val="6000"/>
                </a:srgbClr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A8C0D6"/>
                </a:solidFill>
                <a:latin typeface="Calibri"/>
                <a:ea typeface="Microsoft YaHe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"/>
        </c:scaling>
        <c:delete val="0"/>
        <c:axPos val="l"/>
        <c:majorGridlines>
          <c:spPr>
            <a:ln w="6350">
              <a:solidFill>
                <a:srgbClr val="F0F0F0"/>
              </a:solidFill>
            </a:ln>
          </c:spPr>
        </c:majorGridlines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  <a:ea typeface="Microsoft YaHei"/>
              </a:defRPr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solidFill>
      <a:srgbClr val="1A2E45">
        <a:alpha val="40000"/>
      </a:srgbClr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xMode val="edge"/>
          <c:yMode val="edge"/>
          <c:x val="0.03"/>
          <c:y val="0.03"/>
          <c:w val="0.94"/>
          <c:h val="0.9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 Stability Band Upper</c:v>
                </c:pt>
              </c:strCache>
            </c:strRef>
          </c:tx>
          <c:spPr>
            <a:solidFill>
              <a:srgbClr val="00C9B1">
                <a:alpha val="8000"/>
              </a:srgbClr>
            </a:solidFill>
          </c:spPr>
          <c:cat>
            <c:strRef>
              <c:f>Sheet1!$A$2:$A$14</c:f>
              <c:strCache>
                <c:ptCount val="13"/>
                <c:pt idx="0">
                  <c:v>0.5</c:v>
                </c:pt>
                <c:pt idx="1">
                  <c:v>0.75</c:v>
                </c:pt>
                <c:pt idx="2">
                  <c:v>1.0</c:v>
                </c:pt>
                <c:pt idx="3">
                  <c:v>1.25</c:v>
                </c:pt>
                <c:pt idx="4">
                  <c:v>1.5</c:v>
                </c:pt>
                <c:pt idx="5">
                  <c:v>1.75</c:v>
                </c:pt>
                <c:pt idx="6">
                  <c:v>2.0</c:v>
                </c:pt>
                <c:pt idx="7">
                  <c:v>2.5</c:v>
                </c:pt>
                <c:pt idx="8">
                  <c:v>3.0</c:v>
                </c:pt>
                <c:pt idx="9">
                  <c:v>3.5</c:v>
                </c:pt>
                <c:pt idx="10">
                  <c:v>4.0</c:v>
                </c:pt>
                <c:pt idx="11">
                  <c:v>4.5</c:v>
                </c:pt>
                <c:pt idx="12">
                  <c:v>5.0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25690</c:v>
                </c:pt>
                <c:pt idx="1">
                  <c:v>25220</c:v>
                </c:pt>
                <c:pt idx="2">
                  <c:v>24915</c:v>
                </c:pt>
                <c:pt idx="3">
                  <c:v>24780</c:v>
                </c:pt>
                <c:pt idx="4">
                  <c:v>25000</c:v>
                </c:pt>
                <c:pt idx="5">
                  <c:v>25150</c:v>
                </c:pt>
                <c:pt idx="6">
                  <c:v>24915</c:v>
                </c:pt>
                <c:pt idx="7">
                  <c:v>24650</c:v>
                </c:pt>
                <c:pt idx="8">
                  <c:v>24810</c:v>
                </c:pt>
                <c:pt idx="9">
                  <c:v>25080</c:v>
                </c:pt>
                <c:pt idx="10">
                  <c:v>24915</c:v>
                </c:pt>
                <c:pt idx="11">
                  <c:v>24720</c:v>
                </c:pt>
                <c:pt idx="12">
                  <c:v>24850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E1-4ACA-8E9E-1CD0BAD388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DS Stability Band Lower</c:v>
                </c:pt>
              </c:strCache>
            </c:strRef>
          </c:tx>
          <c:spPr>
            <a:solidFill>
              <a:srgbClr val="00C9B1">
                <a:alpha val="8000"/>
              </a:srgbClr>
            </a:solidFill>
          </c:spPr>
          <c:cat>
            <c:strRef>
              <c:f>Sheet1!$A$2:$A$14</c:f>
              <c:strCache>
                <c:ptCount val="13"/>
                <c:pt idx="0">
                  <c:v>0.5</c:v>
                </c:pt>
                <c:pt idx="1">
                  <c:v>0.75</c:v>
                </c:pt>
                <c:pt idx="2">
                  <c:v>1.0</c:v>
                </c:pt>
                <c:pt idx="3">
                  <c:v>1.25</c:v>
                </c:pt>
                <c:pt idx="4">
                  <c:v>1.5</c:v>
                </c:pt>
                <c:pt idx="5">
                  <c:v>1.75</c:v>
                </c:pt>
                <c:pt idx="6">
                  <c:v>2.0</c:v>
                </c:pt>
                <c:pt idx="7">
                  <c:v>2.5</c:v>
                </c:pt>
                <c:pt idx="8">
                  <c:v>3.0</c:v>
                </c:pt>
                <c:pt idx="9">
                  <c:v>3.5</c:v>
                </c:pt>
                <c:pt idx="10">
                  <c:v>4.0</c:v>
                </c:pt>
                <c:pt idx="11">
                  <c:v>4.5</c:v>
                </c:pt>
                <c:pt idx="12">
                  <c:v>5.0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24090</c:v>
                </c:pt>
                <c:pt idx="1">
                  <c:v>23620</c:v>
                </c:pt>
                <c:pt idx="2">
                  <c:v>23315</c:v>
                </c:pt>
                <c:pt idx="3">
                  <c:v>23180</c:v>
                </c:pt>
                <c:pt idx="4">
                  <c:v>23400</c:v>
                </c:pt>
                <c:pt idx="5">
                  <c:v>23550</c:v>
                </c:pt>
                <c:pt idx="6">
                  <c:v>23315</c:v>
                </c:pt>
                <c:pt idx="7">
                  <c:v>23050</c:v>
                </c:pt>
                <c:pt idx="8">
                  <c:v>23210</c:v>
                </c:pt>
                <c:pt idx="9">
                  <c:v>23480</c:v>
                </c:pt>
                <c:pt idx="10">
                  <c:v>23315</c:v>
                </c:pt>
                <c:pt idx="11">
                  <c:v>23120</c:v>
                </c:pt>
                <c:pt idx="12">
                  <c:v>23250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E1-4ACA-8E9E-1CD0BAD388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Decision Score — Absolute Bias</c:v>
                </c:pt>
              </c:strCache>
            </c:strRef>
          </c:tx>
          <c:spPr>
            <a:solidFill>
              <a:srgbClr val="00C9B1">
                <a:alpha val="15000"/>
              </a:srgbClr>
            </a:solidFill>
            <a:ln w="31750">
              <a:solidFill>
                <a:srgbClr val="00C9B1"/>
              </a:solidFill>
            </a:ln>
          </c:spPr>
          <c:cat>
            <c:strRef>
              <c:f>Sheet1!$A$2:$A$14</c:f>
              <c:strCache>
                <c:ptCount val="13"/>
                <c:pt idx="0">
                  <c:v>0.5</c:v>
                </c:pt>
                <c:pt idx="1">
                  <c:v>0.75</c:v>
                </c:pt>
                <c:pt idx="2">
                  <c:v>1.0</c:v>
                </c:pt>
                <c:pt idx="3">
                  <c:v>1.25</c:v>
                </c:pt>
                <c:pt idx="4">
                  <c:v>1.5</c:v>
                </c:pt>
                <c:pt idx="5">
                  <c:v>1.75</c:v>
                </c:pt>
                <c:pt idx="6">
                  <c:v>2.0</c:v>
                </c:pt>
                <c:pt idx="7">
                  <c:v>2.5</c:v>
                </c:pt>
                <c:pt idx="8">
                  <c:v>3.0</c:v>
                </c:pt>
                <c:pt idx="9">
                  <c:v>3.5</c:v>
                </c:pt>
                <c:pt idx="10">
                  <c:v>4.0</c:v>
                </c:pt>
                <c:pt idx="11">
                  <c:v>4.5</c:v>
                </c:pt>
                <c:pt idx="12">
                  <c:v>5.0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24890</c:v>
                </c:pt>
                <c:pt idx="1">
                  <c:v>24420</c:v>
                </c:pt>
                <c:pt idx="2">
                  <c:v>24115</c:v>
                </c:pt>
                <c:pt idx="3">
                  <c:v>23980</c:v>
                </c:pt>
                <c:pt idx="4">
                  <c:v>24200</c:v>
                </c:pt>
                <c:pt idx="5">
                  <c:v>24350</c:v>
                </c:pt>
                <c:pt idx="6">
                  <c:v>24115</c:v>
                </c:pt>
                <c:pt idx="7">
                  <c:v>23850</c:v>
                </c:pt>
                <c:pt idx="8">
                  <c:v>24010</c:v>
                </c:pt>
                <c:pt idx="9">
                  <c:v>24280</c:v>
                </c:pt>
                <c:pt idx="10">
                  <c:v>24115</c:v>
                </c:pt>
                <c:pt idx="11">
                  <c:v>23920</c:v>
                </c:pt>
                <c:pt idx="12">
                  <c:v>24050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E1-4ACA-8E9E-1CD0BAD3889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WMAPE Optimization — Absolute Bias</c:v>
                </c:pt>
              </c:strCache>
            </c:strRef>
          </c:tx>
          <c:spPr>
            <a:solidFill>
              <a:srgbClr val="F5A623">
                <a:alpha val="8000"/>
              </a:srgbClr>
            </a:solidFill>
            <a:ln w="31750">
              <a:solidFill>
                <a:srgbClr val="F5A623"/>
              </a:solidFill>
            </a:ln>
          </c:spPr>
          <c:cat>
            <c:strRef>
              <c:f>Sheet1!$A$2:$A$14</c:f>
              <c:strCache>
                <c:ptCount val="13"/>
                <c:pt idx="0">
                  <c:v>0.5</c:v>
                </c:pt>
                <c:pt idx="1">
                  <c:v>0.75</c:v>
                </c:pt>
                <c:pt idx="2">
                  <c:v>1.0</c:v>
                </c:pt>
                <c:pt idx="3">
                  <c:v>1.25</c:v>
                </c:pt>
                <c:pt idx="4">
                  <c:v>1.5</c:v>
                </c:pt>
                <c:pt idx="5">
                  <c:v>1.75</c:v>
                </c:pt>
                <c:pt idx="6">
                  <c:v>2.0</c:v>
                </c:pt>
                <c:pt idx="7">
                  <c:v>2.5</c:v>
                </c:pt>
                <c:pt idx="8">
                  <c:v>3.0</c:v>
                </c:pt>
                <c:pt idx="9">
                  <c:v>3.5</c:v>
                </c:pt>
                <c:pt idx="10">
                  <c:v>4.0</c:v>
                </c:pt>
                <c:pt idx="11">
                  <c:v>4.5</c:v>
                </c:pt>
                <c:pt idx="12">
                  <c:v>5.0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37200</c:v>
                </c:pt>
                <c:pt idx="1">
                  <c:v>36900</c:v>
                </c:pt>
                <c:pt idx="2">
                  <c:v>36587</c:v>
                </c:pt>
                <c:pt idx="3">
                  <c:v>36400</c:v>
                </c:pt>
                <c:pt idx="4">
                  <c:v>36750</c:v>
                </c:pt>
                <c:pt idx="5">
                  <c:v>37100</c:v>
                </c:pt>
                <c:pt idx="6">
                  <c:v>36587</c:v>
                </c:pt>
                <c:pt idx="7">
                  <c:v>36300</c:v>
                </c:pt>
                <c:pt idx="8">
                  <c:v>36650</c:v>
                </c:pt>
                <c:pt idx="9">
                  <c:v>36900</c:v>
                </c:pt>
                <c:pt idx="10">
                  <c:v>36587</c:v>
                </c:pt>
                <c:pt idx="11">
                  <c:v>36200</c:v>
                </c:pt>
                <c:pt idx="12">
                  <c:v>36450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8E1-4ACA-8E9E-1CD0BAD388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majorGridlines>
          <c:spPr>
            <a:ln w="12700">
              <a:solidFill>
                <a:srgbClr val="FFFFFF">
                  <a:alpha val="5000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pt-BR" sz="825">
                    <a:solidFill>
                      <a:srgbClr val="A8C0D6"/>
                    </a:solidFill>
                    <a:latin typeface="Calibri"/>
                    <a:ea typeface="Microsoft YaHei"/>
                  </a:rPr>
                  <a:t>Cu / Co Cost Ratio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A8C0D6"/>
                </a:solidFill>
                <a:latin typeface="Calibri"/>
                <a:ea typeface="Microsoft YaHei"/>
              </a:defRPr>
            </a:pPr>
            <a:endParaRPr lang="pt-BR"/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42000"/>
          <c:min val="20000"/>
        </c:scaling>
        <c:delete val="0"/>
        <c:axPos val="l"/>
        <c:majorGridlines>
          <c:spPr>
            <a:ln w="12700">
              <a:solidFill>
                <a:srgbClr val="FFFFFF">
                  <a:alpha val="5000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pt-BR" sz="825">
                    <a:solidFill>
                      <a:srgbClr val="A8C0D6"/>
                    </a:solidFill>
                    <a:latin typeface="Calibri"/>
                    <a:ea typeface="Microsoft YaHei"/>
                  </a:rPr>
                  <a:t>Absolute Bias (units)</a:t>
                </a:r>
              </a:p>
            </c:rich>
          </c:tx>
          <c:overlay val="0"/>
        </c:title>
        <c:numFmt formatCode="0,&quot;K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A8C0D6"/>
                </a:solidFill>
                <a:latin typeface="Calibri"/>
                <a:ea typeface="Microsoft YaHei"/>
              </a:defRPr>
            </a:pPr>
            <a:endParaRPr lang="pt-BR"/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spPr>
    <a:solidFill>
      <a:srgbClr val="1A2E45"/>
    </a:solidFill>
  </c:spPr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xMode val="edge"/>
          <c:yMode val="edge"/>
          <c:x val="0.03"/>
          <c:y val="0.03"/>
          <c:w val="0.94"/>
          <c:h val="0.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WMAPE Optimization</c:v>
                </c:pt>
              </c:strCache>
            </c:strRef>
          </c:tx>
          <c:spPr>
            <a:solidFill>
              <a:srgbClr val="1E6B8C">
                <a:alpha val="84706"/>
              </a:srgbClr>
            </a:solidFill>
            <a:ln w="12700">
              <a:solidFill>
                <a:srgbClr val="1E6B8C">
                  <a:alpha val="100000"/>
                </a:srgbClr>
              </a:solidFill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Flex Fuel</c:v>
                </c:pt>
                <c:pt idx="1">
                  <c:v>Diesel</c:v>
                </c:pt>
                <c:pt idx="2">
                  <c:v>Gasoline</c:v>
                </c:pt>
                <c:pt idx="3">
                  <c:v>Electric</c:v>
                </c:pt>
                <c:pt idx="4">
                  <c:v>Hybrid</c:v>
                </c:pt>
                <c:pt idx="5">
                  <c:v>Plug-in Hybrid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42800</c:v>
                </c:pt>
                <c:pt idx="1">
                  <c:v>31200</c:v>
                </c:pt>
                <c:pt idx="2">
                  <c:v>38500</c:v>
                </c:pt>
                <c:pt idx="3">
                  <c:v>27600</c:v>
                </c:pt>
                <c:pt idx="4">
                  <c:v>33900</c:v>
                </c:pt>
                <c:pt idx="5">
                  <c:v>29400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1E6B8C">
                        <a:alpha val="100000"/>
                      </a:srgb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88C-4F12-A560-CC0BB4D480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Score</c:v>
                </c:pt>
              </c:strCache>
            </c:strRef>
          </c:tx>
          <c:spPr>
            <a:solidFill>
              <a:srgbClr val="00C9B1">
                <a:alpha val="84706"/>
              </a:srgbClr>
            </a:solidFill>
            <a:ln w="12700">
              <a:solidFill>
                <a:srgbClr val="00C9B1">
                  <a:alpha val="100000"/>
                </a:srgbClr>
              </a:solidFill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Flex Fuel</c:v>
                </c:pt>
                <c:pt idx="1">
                  <c:v>Diesel</c:v>
                </c:pt>
                <c:pt idx="2">
                  <c:v>Gasoline</c:v>
                </c:pt>
                <c:pt idx="3">
                  <c:v>Electric</c:v>
                </c:pt>
                <c:pt idx="4">
                  <c:v>Hybrid</c:v>
                </c:pt>
                <c:pt idx="5">
                  <c:v>Plug-in Hybrid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28100</c:v>
                </c:pt>
                <c:pt idx="1">
                  <c:v>20500</c:v>
                </c:pt>
                <c:pt idx="2">
                  <c:v>25300</c:v>
                </c:pt>
                <c:pt idx="3">
                  <c:v>18200</c:v>
                </c:pt>
                <c:pt idx="4">
                  <c:v>22400</c:v>
                </c:pt>
                <c:pt idx="5">
                  <c:v>19600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2700">
                    <a:solidFill>
                      <a:srgbClr val="00C9B1">
                        <a:alpha val="100000"/>
                      </a:srgb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88C-4F12-A560-CC0BB4D480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 w="12700">
              <a:solidFill>
                <a:srgbClr val="FEFEFE">
                  <a:alpha val="4000"/>
                </a:srgbClr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A8C0D6"/>
                </a:solidFill>
                <a:latin typeface="Calibri"/>
                <a:ea typeface="Microsoft YaHe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5000"/>
        </c:scaling>
        <c:delete val="0"/>
        <c:axPos val="l"/>
        <c:majorGridlines>
          <c:spPr>
            <a:ln w="12700">
              <a:solidFill>
                <a:srgbClr val="FFFFFF">
                  <a:alpha val="6000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pt-BR" sz="825">
                    <a:solidFill>
                      <a:srgbClr val="A8C0D6"/>
                    </a:solidFill>
                    <a:latin typeface="Calibri"/>
                    <a:ea typeface="Microsoft YaHei"/>
                  </a:rPr>
                  <a:t>Absolute Bias (units)</a:t>
                </a:r>
              </a:p>
            </c:rich>
          </c:tx>
          <c:overlay val="0"/>
        </c:title>
        <c:numFmt formatCode="0,&quot;K&quot;" sourceLinked="0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A8C0D6"/>
                </a:solidFill>
                <a:latin typeface="Calibri"/>
                <a:ea typeface="Microsoft YaHei"/>
              </a:defRPr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solidFill>
      <a:srgbClr val="0D1B2A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xMode val="edge"/>
          <c:yMode val="edge"/>
          <c:x val="0.03"/>
          <c:y val="0.03"/>
          <c:w val="0.94"/>
          <c:h val="0.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 = 1×</c:v>
                </c:pt>
              </c:strCache>
            </c:strRef>
          </c:tx>
          <c:spPr>
            <a:solidFill>
              <a:srgbClr val="00C9B1">
                <a:alpha val="95294"/>
              </a:srgbClr>
            </a:solidFill>
            <a:ln>
              <a:solidFill>
                <a:srgbClr val="00C9B1">
                  <a:alpha val="20000"/>
                </a:srgbClr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Cu = 1×</c:v>
                </c:pt>
                <c:pt idx="1">
                  <c:v>Cu = 2×</c:v>
                </c:pt>
                <c:pt idx="2">
                  <c:v>Cu = 3×</c:v>
                </c:pt>
                <c:pt idx="3">
                  <c:v>Cu = 4×</c:v>
                </c:pt>
                <c:pt idx="4">
                  <c:v>Cu = 5×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34.1</c:v>
                </c:pt>
                <c:pt idx="1">
                  <c:v>36.200000000000003</c:v>
                </c:pt>
                <c:pt idx="2">
                  <c:v>38.5</c:v>
                </c:pt>
                <c:pt idx="3">
                  <c:v>40.1</c:v>
                </c:pt>
                <c:pt idx="4">
                  <c:v>41.8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C9B1">
                        <a:alpha val="20000"/>
                      </a:srgb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519-4612-A363-486E54B53F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 = 2×</c:v>
                </c:pt>
              </c:strCache>
            </c:strRef>
          </c:tx>
          <c:spPr>
            <a:solidFill>
              <a:srgbClr val="00C9B1">
                <a:alpha val="78039"/>
              </a:srgbClr>
            </a:solidFill>
            <a:ln>
              <a:solidFill>
                <a:srgbClr val="00C9B1">
                  <a:alpha val="20000"/>
                </a:srgbClr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Cu = 1×</c:v>
                </c:pt>
                <c:pt idx="1">
                  <c:v>Cu = 2×</c:v>
                </c:pt>
                <c:pt idx="2">
                  <c:v>Cu = 3×</c:v>
                </c:pt>
                <c:pt idx="3">
                  <c:v>Cu = 4×</c:v>
                </c:pt>
                <c:pt idx="4">
                  <c:v>Cu = 5×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</c:v>
                </c:pt>
                <c:pt idx="1">
                  <c:v>35.1</c:v>
                </c:pt>
                <c:pt idx="2">
                  <c:v>37.4</c:v>
                </c:pt>
                <c:pt idx="3">
                  <c:v>39</c:v>
                </c:pt>
                <c:pt idx="4">
                  <c:v>40.700000000000003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C9B1">
                        <a:alpha val="20000"/>
                      </a:srgb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519-4612-A363-486E54B53F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 = 3×</c:v>
                </c:pt>
              </c:strCache>
            </c:strRef>
          </c:tx>
          <c:spPr>
            <a:solidFill>
              <a:srgbClr val="00C9B1">
                <a:alpha val="62353"/>
              </a:srgbClr>
            </a:solidFill>
            <a:ln>
              <a:solidFill>
                <a:srgbClr val="00C9B1">
                  <a:alpha val="20000"/>
                </a:srgbClr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Cu = 1×</c:v>
                </c:pt>
                <c:pt idx="1">
                  <c:v>Cu = 2×</c:v>
                </c:pt>
                <c:pt idx="2">
                  <c:v>Cu = 3×</c:v>
                </c:pt>
                <c:pt idx="3">
                  <c:v>Cu = 4×</c:v>
                </c:pt>
                <c:pt idx="4">
                  <c:v>Cu = 5×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31.8</c:v>
                </c:pt>
                <c:pt idx="1">
                  <c:v>33.9</c:v>
                </c:pt>
                <c:pt idx="2">
                  <c:v>36.200000000000003</c:v>
                </c:pt>
                <c:pt idx="3">
                  <c:v>37.799999999999997</c:v>
                </c:pt>
                <c:pt idx="4">
                  <c:v>39.5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C9B1">
                        <a:alpha val="20000"/>
                      </a:srgb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519-4612-A363-486E54B53F0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 = 4×</c:v>
                </c:pt>
              </c:strCache>
            </c:strRef>
          </c:tx>
          <c:spPr>
            <a:solidFill>
              <a:srgbClr val="00C9B1">
                <a:alpha val="45490"/>
              </a:srgbClr>
            </a:solidFill>
            <a:ln>
              <a:solidFill>
                <a:srgbClr val="00C9B1">
                  <a:alpha val="20000"/>
                </a:srgbClr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Cu = 1×</c:v>
                </c:pt>
                <c:pt idx="1">
                  <c:v>Cu = 2×</c:v>
                </c:pt>
                <c:pt idx="2">
                  <c:v>Cu = 3×</c:v>
                </c:pt>
                <c:pt idx="3">
                  <c:v>Cu = 4×</c:v>
                </c:pt>
                <c:pt idx="4">
                  <c:v>Cu = 5×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30.5</c:v>
                </c:pt>
                <c:pt idx="1">
                  <c:v>32.6</c:v>
                </c:pt>
                <c:pt idx="2">
                  <c:v>34.9</c:v>
                </c:pt>
                <c:pt idx="3">
                  <c:v>36.5</c:v>
                </c:pt>
                <c:pt idx="4">
                  <c:v>38.200000000000003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C9B1">
                        <a:alpha val="20000"/>
                      </a:srgb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3519-4612-A363-486E54B53F0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 = 5×</c:v>
                </c:pt>
              </c:strCache>
            </c:strRef>
          </c:tx>
          <c:spPr>
            <a:solidFill>
              <a:srgbClr val="00C9B1">
                <a:alpha val="29804"/>
              </a:srgbClr>
            </a:solidFill>
            <a:ln>
              <a:solidFill>
                <a:srgbClr val="00C9B1">
                  <a:alpha val="20000"/>
                </a:srgbClr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Cu = 1×</c:v>
                </c:pt>
                <c:pt idx="1">
                  <c:v>Cu = 2×</c:v>
                </c:pt>
                <c:pt idx="2">
                  <c:v>Cu = 3×</c:v>
                </c:pt>
                <c:pt idx="3">
                  <c:v>Cu = 4×</c:v>
                </c:pt>
                <c:pt idx="4">
                  <c:v>Cu = 5×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29.2</c:v>
                </c:pt>
                <c:pt idx="1">
                  <c:v>31.3</c:v>
                </c:pt>
                <c:pt idx="2">
                  <c:v>33.6</c:v>
                </c:pt>
                <c:pt idx="3">
                  <c:v>35.200000000000003</c:v>
                </c:pt>
                <c:pt idx="4">
                  <c:v>36.9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C9B1">
                        <a:alpha val="20000"/>
                      </a:srgb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3519-4612-A363-486E54B53F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 w="12700">
              <a:solidFill>
                <a:srgbClr val="FEFEFE">
                  <a:alpha val="4000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pt-BR" sz="825">
                    <a:solidFill>
                      <a:srgbClr val="A8C0D6"/>
                    </a:solidFill>
                    <a:latin typeface="IBM Plex Sans"/>
                    <a:ea typeface="Microsoft YaHei"/>
                  </a:rPr>
                  <a:t>Shortage Cost Ratio (Cu)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A8C0D6"/>
                </a:solidFill>
                <a:latin typeface="Calibri"/>
                <a:ea typeface="Microsoft YaHe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0"/>
        </c:scaling>
        <c:delete val="0"/>
        <c:axPos val="l"/>
        <c:majorGridlines>
          <c:spPr>
            <a:ln w="12700">
              <a:solidFill>
                <a:srgbClr val="FFFFFF">
                  <a:alpha val="5000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pt-BR" sz="825">
                    <a:solidFill>
                      <a:srgbClr val="A8C0D6"/>
                    </a:solidFill>
                    <a:latin typeface="IBM Plex Sans"/>
                    <a:ea typeface="Microsoft YaHei"/>
                  </a:rPr>
                  <a:t>Abs. Bias Reduction vs WMAPE Opt. (%)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A8C0D6"/>
                </a:solidFill>
                <a:latin typeface="Calibri"/>
                <a:ea typeface="Microsoft YaHei"/>
              </a:defRPr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25">
              <a:solidFill>
                <a:srgbClr val="A8C0D6"/>
              </a:solidFill>
              <a:latin typeface="Calibri"/>
              <a:ea typeface="Microsoft YaHei"/>
            </a:defRPr>
          </a:pPr>
          <a:endParaRPr lang="pt-BR"/>
        </a:p>
      </c:txPr>
    </c:legend>
    <c:plotVisOnly val="1"/>
    <c:dispBlanksAs val="gap"/>
    <c:showDLblsOverMax val="1"/>
  </c:chart>
  <c:spPr>
    <a:solidFill>
      <a:srgbClr val="1A2E45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xMode val="edge"/>
          <c:yMode val="edge"/>
          <c:x val="0.03"/>
          <c:y val="0.03"/>
          <c:w val="0.94"/>
          <c:h val="0.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WMAPE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A90D9">
                  <a:alpha val="75000"/>
                </a:srgbClr>
              </a:solidFill>
              <a:ln w="19050">
                <a:solidFill>
                  <a:srgbClr val="4A90D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849-42F8-A37C-6AA619A827CA}"/>
              </c:ext>
            </c:extLst>
          </c:dPt>
          <c:dPt>
            <c:idx val="1"/>
            <c:invertIfNegative val="1"/>
            <c:bubble3D val="0"/>
            <c:spPr>
              <a:solidFill>
                <a:srgbClr val="4A90D9">
                  <a:alpha val="75000"/>
                </a:srgbClr>
              </a:solidFill>
              <a:ln w="19050">
                <a:solidFill>
                  <a:srgbClr val="4A90D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849-42F8-A37C-6AA619A827CA}"/>
              </c:ext>
            </c:extLst>
          </c:dPt>
          <c:dPt>
            <c:idx val="2"/>
            <c:invertIfNegative val="1"/>
            <c:bubble3D val="0"/>
            <c:spPr>
              <a:solidFill>
                <a:srgbClr val="4A90D9">
                  <a:alpha val="75000"/>
                </a:srgbClr>
              </a:solidFill>
              <a:ln w="19050">
                <a:solidFill>
                  <a:srgbClr val="4A90D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849-42F8-A37C-6AA619A827CA}"/>
              </c:ext>
            </c:extLst>
          </c:dPt>
          <c:dPt>
            <c:idx val="3"/>
            <c:invertIfNegative val="1"/>
            <c:bubble3D val="0"/>
            <c:spPr>
              <a:solidFill>
                <a:srgbClr val="4A90D9">
                  <a:alpha val="75000"/>
                </a:srgbClr>
              </a:solidFill>
              <a:ln w="19050">
                <a:solidFill>
                  <a:srgbClr val="4A90D9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849-42F8-A37C-6AA619A827CA}"/>
              </c:ext>
            </c:extLst>
          </c:dPt>
          <c:dPt>
            <c:idx val="4"/>
            <c:invertIfNegative val="1"/>
            <c:bubble3D val="0"/>
            <c:spPr>
              <a:solidFill>
                <a:srgbClr val="00C9B1">
                  <a:alpha val="85000"/>
                </a:srgbClr>
              </a:solidFill>
              <a:ln w="19050">
                <a:solidFill>
                  <a:srgbClr val="00C9B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849-42F8-A37C-6AA619A827CA}"/>
              </c:ext>
            </c:extLst>
          </c:dPt>
          <c:cat>
            <c:strRef>
              <c:f>Sheet1!$A$2:$A$6</c:f>
              <c:strCache>
                <c:ptCount val="5"/>
                <c:pt idx="0">
                  <c:v>Exp. Smoothing</c:v>
                </c:pt>
                <c:pt idx="1">
                  <c:v>AutoARIMA</c:v>
                </c:pt>
                <c:pt idx="2">
                  <c:v>Random Forest</c:v>
                </c:pt>
                <c:pt idx="3">
                  <c:v>WMAPE Opt.</c:v>
                </c:pt>
                <c:pt idx="4">
                  <c:v>Decision Score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12.6</c:v>
                </c:pt>
                <c:pt idx="1">
                  <c:v>13.8</c:v>
                </c:pt>
                <c:pt idx="2">
                  <c:v>16.3</c:v>
                </c:pt>
                <c:pt idx="3">
                  <c:v>8.06</c:v>
                </c:pt>
                <c:pt idx="4">
                  <c:v>8.2100000000000009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849-42F8-A37C-6AA619A827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Abs. Bias (÷10,000)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5A623">
                  <a:alpha val="75000"/>
                </a:srgbClr>
              </a:solidFill>
              <a:ln w="19050">
                <a:solidFill>
                  <a:srgbClr val="F5A62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6849-42F8-A37C-6AA619A827CA}"/>
              </c:ext>
            </c:extLst>
          </c:dPt>
          <c:dPt>
            <c:idx val="1"/>
            <c:invertIfNegative val="1"/>
            <c:bubble3D val="0"/>
            <c:spPr>
              <a:solidFill>
                <a:srgbClr val="F5A623">
                  <a:alpha val="75000"/>
                </a:srgbClr>
              </a:solidFill>
              <a:ln w="19050">
                <a:solidFill>
                  <a:srgbClr val="F5A623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6849-42F8-A37C-6AA619A827CA}"/>
              </c:ext>
            </c:extLst>
          </c:dPt>
          <c:dPt>
            <c:idx val="2"/>
            <c:invertIfNegative val="1"/>
            <c:bubble3D val="0"/>
            <c:spPr>
              <a:solidFill>
                <a:srgbClr val="F5A623">
                  <a:alpha val="75000"/>
                </a:srgbClr>
              </a:solidFill>
              <a:ln w="19050">
                <a:solidFill>
                  <a:srgbClr val="F5A623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849-42F8-A37C-6AA619A827CA}"/>
              </c:ext>
            </c:extLst>
          </c:dPt>
          <c:dPt>
            <c:idx val="3"/>
            <c:invertIfNegative val="1"/>
            <c:bubble3D val="0"/>
            <c:spPr>
              <a:solidFill>
                <a:srgbClr val="F5A623">
                  <a:alpha val="75000"/>
                </a:srgbClr>
              </a:solidFill>
              <a:ln w="19050">
                <a:solidFill>
                  <a:srgbClr val="F5A623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849-42F8-A37C-6AA619A827CA}"/>
              </c:ext>
            </c:extLst>
          </c:dPt>
          <c:dPt>
            <c:idx val="4"/>
            <c:invertIfNegative val="1"/>
            <c:bubble3D val="0"/>
            <c:spPr>
              <a:solidFill>
                <a:srgbClr val="00C9B1">
                  <a:alpha val="55000"/>
                </a:srgbClr>
              </a:solidFill>
              <a:ln w="19050">
                <a:solidFill>
                  <a:srgbClr val="00C9B1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849-42F8-A37C-6AA619A827CA}"/>
              </c:ext>
            </c:extLst>
          </c:dPt>
          <c:cat>
            <c:strRef>
              <c:f>Sheet1!$A$2:$A$6</c:f>
              <c:strCache>
                <c:ptCount val="5"/>
                <c:pt idx="0">
                  <c:v>Exp. Smoothing</c:v>
                </c:pt>
                <c:pt idx="1">
                  <c:v>AutoARIMA</c:v>
                </c:pt>
                <c:pt idx="2">
                  <c:v>Random Forest</c:v>
                </c:pt>
                <c:pt idx="3">
                  <c:v>WMAPE Opt.</c:v>
                </c:pt>
                <c:pt idx="4">
                  <c:v>Decision Score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29.23</c:v>
                </c:pt>
                <c:pt idx="1">
                  <c:v>18.82</c:v>
                </c:pt>
                <c:pt idx="2">
                  <c:v>33.14</c:v>
                </c:pt>
                <c:pt idx="3">
                  <c:v>3.66</c:v>
                </c:pt>
                <c:pt idx="4">
                  <c:v>2.41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6849-42F8-A37C-6AA619A82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A8C0D6"/>
                </a:solidFill>
                <a:latin typeface="Calibri"/>
                <a:ea typeface="Microsoft YaHe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8"/>
        </c:scaling>
        <c:delete val="0"/>
        <c:axPos val="l"/>
        <c:majorGridlines>
          <c:spPr>
            <a:ln w="12700">
              <a:solidFill>
                <a:srgbClr val="FFFFFF">
                  <a:alpha val="5000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750">
                    <a:solidFill>
                      <a:srgbClr val="A8C0D6"/>
                    </a:solidFill>
                    <a:latin typeface="Calibri"/>
                    <a:ea typeface="Microsoft YaHei"/>
                  </a:rPr>
                  <a:t>Value (WMAPE % or Bias ÷10,000)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A8C0D6"/>
                </a:solidFill>
                <a:latin typeface="Calibri"/>
                <a:ea typeface="Microsoft YaHei"/>
              </a:defRPr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solidFill>
      <a:srgbClr val="1A2E45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BA9A-F342-4595-9860-1BE7D22338D5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7C5E6-6FD8-49B1-A0AB-65D1B25221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094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2" Type="http://schemas.openxmlformats.org/officeDocument/2006/relationships/image" Target="../media/image1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26" Type="http://schemas.openxmlformats.org/officeDocument/2006/relationships/image" Target="../media/image43.png"/><Relationship Id="rId3" Type="http://schemas.openxmlformats.org/officeDocument/2006/relationships/image" Target="../media/image19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5" Type="http://schemas.openxmlformats.org/officeDocument/2006/relationships/image" Target="../media/image65.png"/><Relationship Id="rId2" Type="http://schemas.openxmlformats.org/officeDocument/2006/relationships/image" Target="../media/image1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51.png"/><Relationship Id="rId24" Type="http://schemas.openxmlformats.org/officeDocument/2006/relationships/image" Target="../media/image64.png"/><Relationship Id="rId5" Type="http://schemas.openxmlformats.org/officeDocument/2006/relationships/image" Target="../media/image46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19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image" Target="../media/image1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26" Type="http://schemas.openxmlformats.org/officeDocument/2006/relationships/image" Target="../media/image102.png"/><Relationship Id="rId3" Type="http://schemas.openxmlformats.org/officeDocument/2006/relationships/image" Target="../media/image80.png"/><Relationship Id="rId21" Type="http://schemas.openxmlformats.org/officeDocument/2006/relationships/image" Target="../media/image97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5" Type="http://schemas.openxmlformats.org/officeDocument/2006/relationships/image" Target="../media/image101.png"/><Relationship Id="rId2" Type="http://schemas.openxmlformats.org/officeDocument/2006/relationships/image" Target="../media/image1.png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29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24" Type="http://schemas.openxmlformats.org/officeDocument/2006/relationships/image" Target="../media/image100.png"/><Relationship Id="rId5" Type="http://schemas.openxmlformats.org/officeDocument/2006/relationships/image" Target="../media/image19.png"/><Relationship Id="rId15" Type="http://schemas.openxmlformats.org/officeDocument/2006/relationships/image" Target="../media/image91.png"/><Relationship Id="rId23" Type="http://schemas.openxmlformats.org/officeDocument/2006/relationships/image" Target="../media/image99.png"/><Relationship Id="rId28" Type="http://schemas.openxmlformats.org/officeDocument/2006/relationships/image" Target="../media/image104.png"/><Relationship Id="rId10" Type="http://schemas.openxmlformats.org/officeDocument/2006/relationships/image" Target="../media/image86.png"/><Relationship Id="rId19" Type="http://schemas.openxmlformats.org/officeDocument/2006/relationships/image" Target="../media/image95.png"/><Relationship Id="rId31" Type="http://schemas.openxmlformats.org/officeDocument/2006/relationships/image" Target="../media/image78.png"/><Relationship Id="rId4" Type="http://schemas.openxmlformats.org/officeDocument/2006/relationships/image" Target="../media/image81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Relationship Id="rId22" Type="http://schemas.openxmlformats.org/officeDocument/2006/relationships/image" Target="../media/image98.png"/><Relationship Id="rId27" Type="http://schemas.openxmlformats.org/officeDocument/2006/relationships/image" Target="../media/image103.png"/><Relationship Id="rId30" Type="http://schemas.openxmlformats.org/officeDocument/2006/relationships/image" Target="../media/image10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9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1.png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26" Type="http://schemas.openxmlformats.org/officeDocument/2006/relationships/image" Target="../media/image140.png"/><Relationship Id="rId3" Type="http://schemas.openxmlformats.org/officeDocument/2006/relationships/image" Target="../media/image19.png"/><Relationship Id="rId21" Type="http://schemas.openxmlformats.org/officeDocument/2006/relationships/image" Target="../media/image135.png"/><Relationship Id="rId7" Type="http://schemas.openxmlformats.org/officeDocument/2006/relationships/image" Target="../media/image122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5" Type="http://schemas.openxmlformats.org/officeDocument/2006/relationships/image" Target="../media/image139.png"/><Relationship Id="rId33" Type="http://schemas.openxmlformats.org/officeDocument/2006/relationships/image" Target="../media/image147.png"/><Relationship Id="rId2" Type="http://schemas.openxmlformats.org/officeDocument/2006/relationships/image" Target="../media/image1.png"/><Relationship Id="rId16" Type="http://schemas.openxmlformats.org/officeDocument/2006/relationships/image" Target="../media/image130.png"/><Relationship Id="rId20" Type="http://schemas.openxmlformats.org/officeDocument/2006/relationships/image" Target="../media/image134.png"/><Relationship Id="rId29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11" Type="http://schemas.openxmlformats.org/officeDocument/2006/relationships/image" Target="../media/image84.png"/><Relationship Id="rId24" Type="http://schemas.openxmlformats.org/officeDocument/2006/relationships/image" Target="../media/image138.png"/><Relationship Id="rId32" Type="http://schemas.openxmlformats.org/officeDocument/2006/relationships/image" Target="../media/image146.png"/><Relationship Id="rId5" Type="http://schemas.openxmlformats.org/officeDocument/2006/relationships/image" Target="../media/image120.png"/><Relationship Id="rId15" Type="http://schemas.openxmlformats.org/officeDocument/2006/relationships/image" Target="../media/image129.png"/><Relationship Id="rId23" Type="http://schemas.openxmlformats.org/officeDocument/2006/relationships/image" Target="../media/image137.png"/><Relationship Id="rId28" Type="http://schemas.openxmlformats.org/officeDocument/2006/relationships/image" Target="../media/image142.png"/><Relationship Id="rId10" Type="http://schemas.openxmlformats.org/officeDocument/2006/relationships/image" Target="../media/image125.png"/><Relationship Id="rId19" Type="http://schemas.openxmlformats.org/officeDocument/2006/relationships/image" Target="../media/image133.png"/><Relationship Id="rId31" Type="http://schemas.openxmlformats.org/officeDocument/2006/relationships/image" Target="../media/image14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8.png"/><Relationship Id="rId22" Type="http://schemas.openxmlformats.org/officeDocument/2006/relationships/image" Target="../media/image136.png"/><Relationship Id="rId27" Type="http://schemas.openxmlformats.org/officeDocument/2006/relationships/image" Target="../media/image141.png"/><Relationship Id="rId30" Type="http://schemas.openxmlformats.org/officeDocument/2006/relationships/image" Target="../media/image144.png"/><Relationship Id="rId8" Type="http://schemas.openxmlformats.org/officeDocument/2006/relationships/image" Target="../media/image1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chart" Target="../charts/chart1.xml"/><Relationship Id="rId3" Type="http://schemas.openxmlformats.org/officeDocument/2006/relationships/image" Target="../media/image19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18" Type="http://schemas.openxmlformats.org/officeDocument/2006/relationships/image" Target="../media/image171.png"/><Relationship Id="rId3" Type="http://schemas.openxmlformats.org/officeDocument/2006/relationships/image" Target="../media/image19.png"/><Relationship Id="rId7" Type="http://schemas.openxmlformats.org/officeDocument/2006/relationships/image" Target="../media/image160.png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" Type="http://schemas.openxmlformats.org/officeDocument/2006/relationships/image" Target="../media/image1.png"/><Relationship Id="rId16" Type="http://schemas.openxmlformats.org/officeDocument/2006/relationships/image" Target="../media/image1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5" Type="http://schemas.openxmlformats.org/officeDocument/2006/relationships/image" Target="../media/image158.png"/><Relationship Id="rId15" Type="http://schemas.openxmlformats.org/officeDocument/2006/relationships/image" Target="../media/image168.png"/><Relationship Id="rId10" Type="http://schemas.openxmlformats.org/officeDocument/2006/relationships/image" Target="../media/image163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1.png"/><Relationship Id="rId18" Type="http://schemas.openxmlformats.org/officeDocument/2006/relationships/image" Target="../media/image186.png"/><Relationship Id="rId3" Type="http://schemas.openxmlformats.org/officeDocument/2006/relationships/image" Target="../media/image19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17" Type="http://schemas.openxmlformats.org/officeDocument/2006/relationships/image" Target="../media/image185.png"/><Relationship Id="rId2" Type="http://schemas.openxmlformats.org/officeDocument/2006/relationships/image" Target="../media/image1.png"/><Relationship Id="rId16" Type="http://schemas.openxmlformats.org/officeDocument/2006/relationships/image" Target="../media/image184.png"/><Relationship Id="rId20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5" Type="http://schemas.openxmlformats.org/officeDocument/2006/relationships/image" Target="../media/image183.png"/><Relationship Id="rId10" Type="http://schemas.openxmlformats.org/officeDocument/2006/relationships/image" Target="../media/image178.png"/><Relationship Id="rId19" Type="http://schemas.openxmlformats.org/officeDocument/2006/relationships/image" Target="../media/image187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Relationship Id="rId14" Type="http://schemas.openxmlformats.org/officeDocument/2006/relationships/image" Target="../media/image18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197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12" Type="http://schemas.openxmlformats.org/officeDocument/2006/relationships/image" Target="../media/image19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png"/><Relationship Id="rId11" Type="http://schemas.openxmlformats.org/officeDocument/2006/relationships/image" Target="../media/image195.png"/><Relationship Id="rId5" Type="http://schemas.openxmlformats.org/officeDocument/2006/relationships/image" Target="../media/image190.png"/><Relationship Id="rId10" Type="http://schemas.openxmlformats.org/officeDocument/2006/relationships/image" Target="../media/image194.png"/><Relationship Id="rId4" Type="http://schemas.openxmlformats.org/officeDocument/2006/relationships/image" Target="../media/image189.png"/><Relationship Id="rId9" Type="http://schemas.openxmlformats.org/officeDocument/2006/relationships/image" Target="../media/image193.png"/><Relationship Id="rId14" Type="http://schemas.openxmlformats.org/officeDocument/2006/relationships/image" Target="../media/image19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image" Target="../media/image207.png"/><Relationship Id="rId18" Type="http://schemas.openxmlformats.org/officeDocument/2006/relationships/image" Target="../media/image212.png"/><Relationship Id="rId3" Type="http://schemas.openxmlformats.org/officeDocument/2006/relationships/image" Target="../media/image19.png"/><Relationship Id="rId7" Type="http://schemas.openxmlformats.org/officeDocument/2006/relationships/image" Target="../media/image201.png"/><Relationship Id="rId12" Type="http://schemas.openxmlformats.org/officeDocument/2006/relationships/image" Target="../media/image206.png"/><Relationship Id="rId17" Type="http://schemas.openxmlformats.org/officeDocument/2006/relationships/image" Target="../media/image211.png"/><Relationship Id="rId2" Type="http://schemas.openxmlformats.org/officeDocument/2006/relationships/image" Target="../media/image1.png"/><Relationship Id="rId16" Type="http://schemas.openxmlformats.org/officeDocument/2006/relationships/image" Target="../media/image210.png"/><Relationship Id="rId20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11" Type="http://schemas.openxmlformats.org/officeDocument/2006/relationships/image" Target="../media/image205.png"/><Relationship Id="rId5" Type="http://schemas.openxmlformats.org/officeDocument/2006/relationships/image" Target="../media/image199.png"/><Relationship Id="rId15" Type="http://schemas.openxmlformats.org/officeDocument/2006/relationships/image" Target="../media/image209.png"/><Relationship Id="rId10" Type="http://schemas.openxmlformats.org/officeDocument/2006/relationships/image" Target="../media/image204.png"/><Relationship Id="rId19" Type="http://schemas.openxmlformats.org/officeDocument/2006/relationships/image" Target="../media/image213.png"/><Relationship Id="rId4" Type="http://schemas.openxmlformats.org/officeDocument/2006/relationships/image" Target="../media/image174.png"/><Relationship Id="rId9" Type="http://schemas.openxmlformats.org/officeDocument/2006/relationships/image" Target="../media/image203.png"/><Relationship Id="rId14" Type="http://schemas.openxmlformats.org/officeDocument/2006/relationships/image" Target="../media/image20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19.png"/><Relationship Id="rId7" Type="http://schemas.openxmlformats.org/officeDocument/2006/relationships/image" Target="../media/image2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10" Type="http://schemas.openxmlformats.org/officeDocument/2006/relationships/image" Target="../media/image220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3" Type="http://schemas.openxmlformats.org/officeDocument/2006/relationships/image" Target="../media/image19.png"/><Relationship Id="rId7" Type="http://schemas.openxmlformats.org/officeDocument/2006/relationships/image" Target="../media/image2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4.png"/><Relationship Id="rId5" Type="http://schemas.openxmlformats.org/officeDocument/2006/relationships/image" Target="../media/image223.png"/><Relationship Id="rId4" Type="http://schemas.openxmlformats.org/officeDocument/2006/relationships/image" Target="../media/image222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19.png"/><Relationship Id="rId7" Type="http://schemas.openxmlformats.org/officeDocument/2006/relationships/image" Target="../media/image2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9.png"/><Relationship Id="rId11" Type="http://schemas.openxmlformats.org/officeDocument/2006/relationships/chart" Target="../charts/chart3.xml"/><Relationship Id="rId5" Type="http://schemas.openxmlformats.org/officeDocument/2006/relationships/image" Target="../media/image228.png"/><Relationship Id="rId10" Type="http://schemas.openxmlformats.org/officeDocument/2006/relationships/image" Target="../media/image233.png"/><Relationship Id="rId4" Type="http://schemas.openxmlformats.org/officeDocument/2006/relationships/image" Target="../media/image227.png"/><Relationship Id="rId9" Type="http://schemas.openxmlformats.org/officeDocument/2006/relationships/image" Target="../media/image2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42.png"/><Relationship Id="rId18" Type="http://schemas.openxmlformats.org/officeDocument/2006/relationships/chart" Target="../charts/chart4.xml"/><Relationship Id="rId3" Type="http://schemas.openxmlformats.org/officeDocument/2006/relationships/image" Target="../media/image19.png"/><Relationship Id="rId7" Type="http://schemas.openxmlformats.org/officeDocument/2006/relationships/image" Target="../media/image237.png"/><Relationship Id="rId12" Type="http://schemas.openxmlformats.org/officeDocument/2006/relationships/image" Target="../media/image241.png"/><Relationship Id="rId17" Type="http://schemas.openxmlformats.org/officeDocument/2006/relationships/image" Target="../media/image246.png"/><Relationship Id="rId2" Type="http://schemas.openxmlformats.org/officeDocument/2006/relationships/image" Target="../media/image1.png"/><Relationship Id="rId16" Type="http://schemas.openxmlformats.org/officeDocument/2006/relationships/image" Target="../media/image2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6.png"/><Relationship Id="rId11" Type="http://schemas.openxmlformats.org/officeDocument/2006/relationships/image" Target="../media/image155.png"/><Relationship Id="rId5" Type="http://schemas.openxmlformats.org/officeDocument/2006/relationships/image" Target="../media/image235.png"/><Relationship Id="rId15" Type="http://schemas.openxmlformats.org/officeDocument/2006/relationships/image" Target="../media/image244.png"/><Relationship Id="rId10" Type="http://schemas.openxmlformats.org/officeDocument/2006/relationships/image" Target="../media/image240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4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255.png"/><Relationship Id="rId18" Type="http://schemas.openxmlformats.org/officeDocument/2006/relationships/image" Target="../media/image260.png"/><Relationship Id="rId3" Type="http://schemas.openxmlformats.org/officeDocument/2006/relationships/image" Target="../media/image19.png"/><Relationship Id="rId7" Type="http://schemas.openxmlformats.org/officeDocument/2006/relationships/image" Target="../media/image249.png"/><Relationship Id="rId12" Type="http://schemas.openxmlformats.org/officeDocument/2006/relationships/image" Target="../media/image254.png"/><Relationship Id="rId17" Type="http://schemas.openxmlformats.org/officeDocument/2006/relationships/image" Target="../media/image259.png"/><Relationship Id="rId2" Type="http://schemas.openxmlformats.org/officeDocument/2006/relationships/image" Target="../media/image1.png"/><Relationship Id="rId16" Type="http://schemas.openxmlformats.org/officeDocument/2006/relationships/image" Target="../media/image2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8.png"/><Relationship Id="rId11" Type="http://schemas.openxmlformats.org/officeDocument/2006/relationships/image" Target="../media/image253.png"/><Relationship Id="rId5" Type="http://schemas.openxmlformats.org/officeDocument/2006/relationships/image" Target="../media/image155.png"/><Relationship Id="rId15" Type="http://schemas.openxmlformats.org/officeDocument/2006/relationships/image" Target="../media/image257.png"/><Relationship Id="rId10" Type="http://schemas.openxmlformats.org/officeDocument/2006/relationships/image" Target="../media/image252.png"/><Relationship Id="rId19" Type="http://schemas.openxmlformats.org/officeDocument/2006/relationships/chart" Target="../charts/chart5.xml"/><Relationship Id="rId4" Type="http://schemas.openxmlformats.org/officeDocument/2006/relationships/image" Target="../media/image247.png"/><Relationship Id="rId9" Type="http://schemas.openxmlformats.org/officeDocument/2006/relationships/image" Target="../media/image251.png"/><Relationship Id="rId14" Type="http://schemas.openxmlformats.org/officeDocument/2006/relationships/image" Target="../media/image2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0"/>
            <a:ext cx="419100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000500"/>
            <a:ext cx="2857500" cy="2857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0" y="0"/>
            <a:ext cx="40005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0"/>
            <a:ext cx="19050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829425"/>
            <a:ext cx="12192000" cy="285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49025" y="280987"/>
            <a:ext cx="47625" cy="47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72850" y="276225"/>
            <a:ext cx="57150" cy="571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06200" y="266700"/>
            <a:ext cx="76200" cy="76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8700" y="1905744"/>
            <a:ext cx="3000375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700" y="3667125"/>
            <a:ext cx="342900" cy="285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8700" y="4199632"/>
            <a:ext cx="4572000" cy="95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90625" y="1979116"/>
            <a:ext cx="97184" cy="129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83059" y="1972419"/>
            <a:ext cx="248929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C9B1"/>
                </a:solidFill>
                <a:latin typeface="Inter"/>
              </a:rPr>
              <a:t>IADIS DSDI 2026  ·  LISBON, PORTUGAL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2448669"/>
            <a:ext cx="3460849" cy="476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Bridging 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2939355"/>
            <a:ext cx="2703260" cy="490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in </a:t>
            </a:r>
            <a:r>
              <a:rPr sz="3359" b="1" i="0">
                <a:solidFill>
                  <a:srgbClr val="00C9B1"/>
                </a:solidFill>
                <a:latin typeface="IBM Plex Sans"/>
              </a:rPr>
              <a:t>S&amp;OP 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4950" y="3572916"/>
            <a:ext cx="3829496" cy="2000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A8C0D6"/>
                </a:solidFill>
                <a:latin typeface="Inter"/>
              </a:rPr>
              <a:t>A Decision Score Artifact for Forecast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4513957"/>
            <a:ext cx="488900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C9B1"/>
                </a:solidFill>
                <a:latin typeface="Inter"/>
              </a:rPr>
              <a:t>AUTHOR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4704457"/>
            <a:ext cx="1599753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0F4F8"/>
                </a:solidFill>
                <a:latin typeface="IBM Plex Sans"/>
              </a:rPr>
              <a:t>Luiz Reni Trento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72400" y="5566171"/>
            <a:ext cx="3810000" cy="102512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72425" y="5709046"/>
            <a:ext cx="106560" cy="1067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26610" y="5709046"/>
            <a:ext cx="779710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5A623"/>
                </a:solidFill>
                <a:latin typeface="Inter"/>
              </a:rPr>
              <a:t>KEY 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2425" y="5899546"/>
            <a:ext cx="3539160" cy="4765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37"/>
              </a:lnSpc>
              <a:spcBef>
                <a:spcPts val="0"/>
              </a:spcBef>
              <a:spcAft>
                <a:spcPts val="0"/>
              </a:spcAft>
            </a:pPr>
            <a:r>
              <a:rPr sz="1056" b="0" i="1">
                <a:solidFill>
                  <a:srgbClr val="A8C0D6"/>
                </a:solidFill>
                <a:latin typeface="Inter"/>
              </a:rPr>
              <a:t>This research proposes a decision-oriented forecast selection artifact rather than a new forecasting algorithm.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89235"/>
            <a:ext cx="571500" cy="28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7684"/>
            <a:ext cx="6016534" cy="4693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The Accuracy </a:t>
            </a:r>
            <a:r>
              <a:rPr sz="3359" b="1" i="0">
                <a:solidFill>
                  <a:srgbClr val="00C9B1"/>
                </a:solidFill>
                <a:latin typeface="IBM Plex Sans"/>
              </a:rPr>
              <a:t>Trap</a:t>
            </a:r>
            <a:r>
              <a:rPr sz="3359" b="1" i="0">
                <a:solidFill>
                  <a:srgbClr val="F0F4F8"/>
                </a:solidFill>
                <a:latin typeface="IBM Plex Sans"/>
              </a:rPr>
              <a:t> in S&amp;OP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005363"/>
            <a:ext cx="11277600" cy="695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6172646"/>
            <a:ext cx="365670" cy="36567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460" y="6279207"/>
            <a:ext cx="9525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3395" y="6148238"/>
            <a:ext cx="1033462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C9B1"/>
                </a:solidFill>
                <a:latin typeface="Inter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3395" y="6367313"/>
            <a:ext cx="6907551" cy="23976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F0F4F8"/>
                </a:solidFill>
                <a:latin typeface="IBM Plex Sans"/>
              </a:rPr>
              <a:t>Does the </a:t>
            </a:r>
            <a:r>
              <a:rPr sz="1411" b="1" i="0">
                <a:solidFill>
                  <a:srgbClr val="F5A623"/>
                </a:solidFill>
                <a:latin typeface="IBM Plex Sans"/>
              </a:rPr>
              <a:t>most accurate</a:t>
            </a:r>
            <a:r>
              <a:rPr sz="1411" b="1" i="0">
                <a:solidFill>
                  <a:srgbClr val="F0F4F8"/>
                </a:solidFill>
                <a:latin typeface="IBM Plex Sans"/>
              </a:rPr>
              <a:t> forecast always generate the </a:t>
            </a:r>
            <a:r>
              <a:rPr sz="1411" b="1" i="0">
                <a:solidFill>
                  <a:srgbClr val="F5A623"/>
                </a:solidFill>
                <a:latin typeface="IBM Plex Sans"/>
              </a:rPr>
              <a:t>best planning decision</a:t>
            </a:r>
            <a:r>
              <a:rPr sz="1411" b="1" i="0">
                <a:solidFill>
                  <a:srgbClr val="F0F4F8"/>
                </a:solidFill>
                <a:latin typeface="IBM Plex Sans"/>
              </a:rPr>
              <a:t> 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000571"/>
            <a:ext cx="5524500" cy="4848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1029146"/>
            <a:ext cx="5505450" cy="7143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995" y="1214735"/>
            <a:ext cx="335160" cy="3351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995" y="2303264"/>
            <a:ext cx="5076825" cy="838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995" y="3233737"/>
            <a:ext cx="5076825" cy="6191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995" y="3945433"/>
            <a:ext cx="5076825" cy="6191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995" y="4657129"/>
            <a:ext cx="5076825" cy="6191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2835" y="1317575"/>
            <a:ext cx="129480" cy="12948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051" y="2422028"/>
            <a:ext cx="129480" cy="12948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051" y="3352502"/>
            <a:ext cx="161925" cy="12948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051" y="4064198"/>
            <a:ext cx="97184" cy="12948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051" y="4775894"/>
            <a:ext cx="129480" cy="129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4127" y="1166217"/>
            <a:ext cx="1913036" cy="2095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00C9B1"/>
                </a:solidFill>
                <a:latin typeface="IBM Plex Sans"/>
              </a:rPr>
              <a:t>Traditional Approach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127" y="1411634"/>
            <a:ext cx="2650926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C0D6"/>
                </a:solidFill>
                <a:latin typeface="Inter"/>
              </a:rPr>
              <a:t>Forecast selection by WMAPE minimization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092" y="2413694"/>
            <a:ext cx="1665535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nter"/>
              </a:rPr>
              <a:t>Single Metric: WMAPE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092" y="2659112"/>
            <a:ext cx="4244467" cy="37117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A8C0D6"/>
                </a:solidFill>
                <a:latin typeface="Inter"/>
              </a:rPr>
              <a:t>Select the forecast with the lowest weighted error — nothing else considered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537" y="3344167"/>
            <a:ext cx="2163216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nter"/>
              </a:rPr>
              <a:t>Symmetric Error Assumption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537" y="3589585"/>
            <a:ext cx="3313955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A8C0D6"/>
                </a:solidFill>
                <a:latin typeface="Inter"/>
              </a:rPr>
              <a:t>Over- and under-forecasting treated as equally costly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796" y="4055864"/>
            <a:ext cx="2125860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nter"/>
              </a:rPr>
              <a:t>Statistical Performance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1796" y="4301281"/>
            <a:ext cx="3961209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A8C0D6"/>
                </a:solidFill>
                <a:latin typeface="Inter"/>
              </a:rPr>
              <a:t>Optimizes for mathematical accuracy, not operational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092" y="4767560"/>
            <a:ext cx="2455366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nter"/>
              </a:rPr>
              <a:t>Ignores Business Consequences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092" y="5012977"/>
            <a:ext cx="4238029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A8C0D6"/>
                </a:solidFill>
                <a:latin typeface="Inter"/>
              </a:rPr>
              <a:t>No consideration of downstream planning impact or cost asymmetry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300" y="1000571"/>
            <a:ext cx="5524500" cy="48482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9825" y="1029146"/>
            <a:ext cx="5505450" cy="7143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3095" y="1214735"/>
            <a:ext cx="335160" cy="33516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3095" y="2193875"/>
            <a:ext cx="5076825" cy="8382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3095" y="3124348"/>
            <a:ext cx="5076825" cy="6191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3095" y="3836044"/>
            <a:ext cx="5076825" cy="6191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3095" y="4547741"/>
            <a:ext cx="5076825" cy="8382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27750" y="1317575"/>
            <a:ext cx="145702" cy="12948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91151" y="2312640"/>
            <a:ext cx="145702" cy="12948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91151" y="3243113"/>
            <a:ext cx="161925" cy="12948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91151" y="3954809"/>
            <a:ext cx="145702" cy="12948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91151" y="4666505"/>
            <a:ext cx="80962" cy="1294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867227" y="1166217"/>
            <a:ext cx="1536650" cy="2095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5A623"/>
                </a:solidFill>
                <a:latin typeface="IBM Plex Sans"/>
              </a:rPr>
              <a:t>Business Reality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67227" y="1411634"/>
            <a:ext cx="2704951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C0D6"/>
                </a:solidFill>
                <a:latin typeface="Inter"/>
              </a:rPr>
              <a:t>Multi-dimensional operational consequences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43414" y="2304305"/>
            <a:ext cx="1344959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nter"/>
              </a:rPr>
              <a:t>Inventory Balance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43414" y="2549723"/>
            <a:ext cx="4703886" cy="37117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A8C0D6"/>
                </a:solidFill>
                <a:latin typeface="Inter"/>
              </a:rPr>
              <a:t>Poor forecasts drive excess stock or critical shortages across the supply chain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9637" y="3234779"/>
            <a:ext cx="998190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nter"/>
              </a:rPr>
              <a:t>Service Level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9637" y="3480196"/>
            <a:ext cx="3587650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A8C0D6"/>
                </a:solidFill>
                <a:latin typeface="Inter"/>
              </a:rPr>
              <a:t>Customer fulfillment failures erode trust and market share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43414" y="3946475"/>
            <a:ext cx="1327249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nter"/>
              </a:rPr>
              <a:t>Allocation Quality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43414" y="4191892"/>
            <a:ext cx="4410967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A8C0D6"/>
                </a:solidFill>
                <a:latin typeface="Inter"/>
              </a:rPr>
              <a:t>Distorted demand signals misalign production and distribution planning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78674" y="4658171"/>
            <a:ext cx="1223367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nter"/>
              </a:rPr>
              <a:t>Financial 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78674" y="4903589"/>
            <a:ext cx="4679819" cy="37117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54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A8C0D6"/>
                </a:solidFill>
                <a:latin typeface="Inter"/>
              </a:rPr>
              <a:t>Asymmetric costs: shortage penalties often far exceed excess inventory costs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23619" y="2956619"/>
            <a:ext cx="952500" cy="9525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004470" y="3342828"/>
            <a:ext cx="182909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C9B1"/>
                </a:solidFill>
                <a:latin typeface="IBM Plex Sans"/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3048000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4572000"/>
            <a:ext cx="28575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812155"/>
            <a:ext cx="571500" cy="28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60604"/>
            <a:ext cx="2869852" cy="4693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Research Gap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5638800"/>
            <a:ext cx="11734800" cy="1219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6049863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6164163"/>
            <a:ext cx="952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04925" y="6017121"/>
            <a:ext cx="1523255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5A623"/>
                </a:solidFill>
                <a:latin typeface="IBM Plex Sans"/>
              </a:rPr>
              <a:t>RESEARCH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4925" y="6262836"/>
            <a:ext cx="7565528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1">
                <a:solidFill>
                  <a:srgbClr val="F0F4F8"/>
                </a:solidFill>
                <a:latin typeface="Inter"/>
              </a:rPr>
              <a:t>How can forecast selection incorporate business consequences rather than accuracy alone?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450" y="781050"/>
            <a:ext cx="5676900" cy="52482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725" y="1059805"/>
            <a:ext cx="5086350" cy="6191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25" y="2489448"/>
            <a:ext cx="4629150" cy="723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25" y="3319760"/>
            <a:ext cx="4629150" cy="723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25" y="4150072"/>
            <a:ext cx="4629150" cy="723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" y="2634108"/>
            <a:ext cx="129480" cy="12948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300" y="3464421"/>
            <a:ext cx="161925" cy="12948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" y="4294733"/>
            <a:ext cx="97184" cy="129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46695" y="1250305"/>
            <a:ext cx="2139850" cy="2286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00C9B1"/>
                </a:solidFill>
                <a:latin typeface="IBM Plex Sans"/>
              </a:rPr>
              <a:t>Forecasting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5260" y="2632323"/>
            <a:ext cx="4182629" cy="4418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980"/>
              </a:lnSpc>
            </a:pPr>
            <a:r>
              <a:rPr sz="1320" b="1" dirty="0">
                <a:solidFill>
                  <a:srgbClr val="F0F4F8"/>
                </a:solidFill>
                <a:latin typeface="Inter"/>
              </a:rPr>
              <a:t>Accuracy maximization </a:t>
            </a:r>
            <a:r>
              <a:rPr lang="pt-BR" sz="1320" b="1" dirty="0">
                <a:solidFill>
                  <a:srgbClr val="F0F4F8"/>
                </a:solidFill>
                <a:latin typeface="Inter"/>
              </a:rPr>
              <a:t>-</a:t>
            </a:r>
            <a:r>
              <a:rPr sz="1320" b="1" dirty="0">
                <a:solidFill>
                  <a:srgbClr val="F0F4F8"/>
                </a:solidFill>
                <a:latin typeface="Inter"/>
              </a:rPr>
              <a:t> minimize forecast error metrics such as WMAPE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7705" y="3462635"/>
            <a:ext cx="4076703" cy="4418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F0F4F8"/>
                </a:solidFill>
                <a:latin typeface="Inter"/>
              </a:rPr>
              <a:t>Symmetric errors </a:t>
            </a:r>
            <a:r>
              <a:rPr lang="pt-BR" sz="1320" b="1" i="0" dirty="0">
                <a:solidFill>
                  <a:srgbClr val="F0F4F8"/>
                </a:solidFill>
                <a:latin typeface="Inter"/>
              </a:rPr>
              <a:t>-</a:t>
            </a:r>
            <a:r>
              <a:rPr sz="1320" b="1" i="0" dirty="0">
                <a:solidFill>
                  <a:srgbClr val="F0F4F8"/>
                </a:solidFill>
                <a:latin typeface="Inter"/>
              </a:rPr>
              <a:t> over- and under-forecasting treated as equally costly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2965" y="4292947"/>
            <a:ext cx="3923257" cy="4609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F0F4F8"/>
                </a:solidFill>
                <a:latin typeface="Inter"/>
              </a:rPr>
              <a:t>Statistical performance </a:t>
            </a:r>
            <a:r>
              <a:rPr lang="pt-BR" sz="1320" b="1" i="0" dirty="0">
                <a:solidFill>
                  <a:srgbClr val="F0F4F8"/>
                </a:solidFill>
                <a:latin typeface="Inter"/>
              </a:rPr>
              <a:t>-</a:t>
            </a:r>
            <a:r>
              <a:rPr sz="1320" b="1" i="0" dirty="0">
                <a:solidFill>
                  <a:srgbClr val="F0F4F8"/>
                </a:solidFill>
                <a:latin typeface="Inter"/>
              </a:rPr>
              <a:t> evaluation based on mathematical error measures alone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3650" y="781050"/>
            <a:ext cx="5676900" cy="52482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38925" y="1059805"/>
            <a:ext cx="5086350" cy="6191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67525" y="2489448"/>
            <a:ext cx="4629150" cy="7239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67525" y="3319760"/>
            <a:ext cx="4629150" cy="7239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67525" y="4150072"/>
            <a:ext cx="4629150" cy="7239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48500" y="2634108"/>
            <a:ext cx="145702" cy="12948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48500" y="3464421"/>
            <a:ext cx="129480" cy="12948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48500" y="4294733"/>
            <a:ext cx="161925" cy="1294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37945" y="1250305"/>
            <a:ext cx="1305222" cy="2286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F5A623"/>
                </a:solidFill>
                <a:latin typeface="IBM Plex Sans"/>
              </a:rPr>
              <a:t>S&amp;OP Reality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3683" y="2632323"/>
            <a:ext cx="3856115" cy="4749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F0F4F8"/>
                </a:solidFill>
                <a:latin typeface="Inter"/>
              </a:rPr>
              <a:t>Decision quality </a:t>
            </a:r>
            <a:r>
              <a:rPr lang="pt-BR" sz="1320" b="1" i="0" dirty="0">
                <a:solidFill>
                  <a:srgbClr val="F0F4F8"/>
                </a:solidFill>
                <a:latin typeface="Inter"/>
              </a:rPr>
              <a:t>-</a:t>
            </a:r>
            <a:r>
              <a:rPr sz="1320" b="1" i="0" dirty="0">
                <a:solidFill>
                  <a:srgbClr val="F0F4F8"/>
                </a:solidFill>
                <a:latin typeface="Inter"/>
              </a:rPr>
              <a:t> the selected forecast must support optimal planning 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07460" y="3462635"/>
            <a:ext cx="4144306" cy="50909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F0F4F8"/>
                </a:solidFill>
                <a:latin typeface="Inter"/>
              </a:rPr>
              <a:t>Asymmetric business costs </a:t>
            </a:r>
            <a:r>
              <a:rPr lang="pt-BR" sz="1320" b="1" i="0" dirty="0">
                <a:solidFill>
                  <a:srgbClr val="F0F4F8"/>
                </a:solidFill>
                <a:latin typeface="Inter"/>
              </a:rPr>
              <a:t>-</a:t>
            </a:r>
            <a:r>
              <a:rPr sz="1320" b="1" i="0" dirty="0">
                <a:solidFill>
                  <a:srgbClr val="F0F4F8"/>
                </a:solidFill>
                <a:latin typeface="Inter"/>
              </a:rPr>
              <a:t> stockouts and excess inventory carry different financial impacts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9905" y="4292947"/>
            <a:ext cx="3971391" cy="5079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F0F4F8"/>
                </a:solidFill>
                <a:latin typeface="Inter"/>
              </a:rPr>
              <a:t>Operational consequences </a:t>
            </a:r>
            <a:r>
              <a:rPr lang="pt-BR" sz="1320" b="1" i="0" dirty="0">
                <a:solidFill>
                  <a:srgbClr val="F0F4F8"/>
                </a:solidFill>
                <a:latin typeface="Inter"/>
              </a:rPr>
              <a:t>-</a:t>
            </a:r>
            <a:r>
              <a:rPr sz="1320" b="1" i="0" dirty="0">
                <a:solidFill>
                  <a:srgbClr val="F0F4F8"/>
                </a:solidFill>
                <a:latin typeface="Inter"/>
              </a:rPr>
              <a:t> allocation distortion, service failures, and financial losses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5325" y="1289595"/>
            <a:ext cx="15240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95950" y="2886075"/>
            <a:ext cx="800100" cy="8001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12209" y="3188047"/>
            <a:ext cx="167580" cy="1675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07447" y="3570833"/>
            <a:ext cx="176956" cy="95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A8C0D6">
                    <a:alpha val="70000"/>
                  </a:srgbClr>
                </a:solidFill>
                <a:latin typeface="Inter"/>
              </a:rPr>
              <a:t>GAP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67525" y="1289595"/>
            <a:ext cx="17145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3048000" cy="304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1238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361950"/>
            <a:ext cx="1643062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00C9B1"/>
                </a:solidFill>
                <a:latin typeface="Inter"/>
              </a:rPr>
              <a:t>RESEARCH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72250"/>
            <a:ext cx="7288113" cy="4693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Design Science Research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32715" y="686246"/>
            <a:ext cx="1049684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A8C0D6">
                    <a:alpha val="75000"/>
                  </a:srgbClr>
                </a:solidFill>
                <a:latin typeface="Inter"/>
              </a:rPr>
              <a:t>Hevner et al. (2004)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1496" y="876448"/>
            <a:ext cx="1040903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A8C0D6">
                    <a:alpha val="75000"/>
                  </a:srgbClr>
                </a:solidFill>
                <a:latin typeface="Inter"/>
              </a:rPr>
              <a:t>Peffers et al. (2007)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007173"/>
            <a:ext cx="10972800" cy="7905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2075" y="5207198"/>
            <a:ext cx="1805731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5A623"/>
                </a:solidFill>
                <a:latin typeface="Inter"/>
              </a:rPr>
              <a:t>METHODOLOGICAL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075" y="5409753"/>
            <a:ext cx="5661421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0F4F8"/>
                </a:solidFill>
                <a:latin typeface="IBM Plex Sans"/>
              </a:rPr>
              <a:t>Design Science Research — Problem </a:t>
            </a:r>
            <a:r>
              <a:rPr sz="1260" b="1" i="0">
                <a:solidFill>
                  <a:srgbClr val="F0F4F8"/>
                </a:solidFill>
                <a:latin typeface="Cambria Math"/>
              </a:rPr>
              <a:t>→ </a:t>
            </a:r>
            <a:r>
              <a:rPr sz="1260" b="1" i="0">
                <a:solidFill>
                  <a:srgbClr val="F0F4F8"/>
                </a:solidFill>
                <a:latin typeface="IBM Plex Sans"/>
              </a:rPr>
              <a:t>Objective </a:t>
            </a:r>
            <a:r>
              <a:rPr sz="1260" b="1" i="0">
                <a:solidFill>
                  <a:srgbClr val="F0F4F8"/>
                </a:solidFill>
                <a:latin typeface="Cambria Math"/>
              </a:rPr>
              <a:t>→ </a:t>
            </a:r>
            <a:r>
              <a:rPr sz="1260" b="1" i="0">
                <a:solidFill>
                  <a:srgbClr val="F0F4F8"/>
                </a:solidFill>
                <a:latin typeface="IBM Plex Sans"/>
              </a:rPr>
              <a:t>Artifact </a:t>
            </a:r>
            <a:r>
              <a:rPr sz="1260" b="1" i="0">
                <a:solidFill>
                  <a:srgbClr val="F0F4F8"/>
                </a:solidFill>
                <a:latin typeface="Cambria Math"/>
              </a:rPr>
              <a:t>→ </a:t>
            </a:r>
            <a:r>
              <a:rPr sz="1260" b="1" i="0">
                <a:solidFill>
                  <a:srgbClr val="F0F4F8"/>
                </a:solidFill>
                <a:latin typeface="IBM Plex Sans"/>
              </a:rPr>
              <a:t>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0631" y="5233392"/>
            <a:ext cx="2540886" cy="2006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A8C0D6"/>
                </a:solidFill>
                <a:latin typeface="Inter"/>
              </a:rPr>
              <a:t>Applied to </a:t>
            </a:r>
            <a:r>
              <a:rPr sz="936" b="1" i="0">
                <a:solidFill>
                  <a:srgbClr val="00C9B1"/>
                </a:solidFill>
                <a:latin typeface="Inter"/>
              </a:rPr>
              <a:t>S&amp;OP Forecast Selection</a:t>
            </a:r>
            <a:r>
              <a:rPr sz="936" b="0" i="0">
                <a:solidFill>
                  <a:srgbClr val="A8C0D6"/>
                </a:solidFill>
                <a:latin typeface="Inter"/>
              </a:rPr>
              <a:t>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5096" y="5423594"/>
            <a:ext cx="2402978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>
              <a:lnSpc>
                <a:spcPts val="149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A8C0D6"/>
                </a:solidFill>
                <a:latin typeface="Inter"/>
              </a:rPr>
              <a:t>Rigorous artifact design &amp; empirical validation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2760612"/>
            <a:ext cx="9448800" cy="285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5271194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8725" y="2619375"/>
            <a:ext cx="9734550" cy="3143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892153"/>
            <a:ext cx="2343150" cy="8096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6045" y="2360562"/>
            <a:ext cx="478631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C9B1"/>
                </a:solidFill>
                <a:latin typeface="Inter"/>
              </a:rPr>
              <a:t>PHASE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5529" y="3585567"/>
            <a:ext cx="639663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0F4F8"/>
                </a:solidFill>
                <a:latin typeface="IBM Plex Sans"/>
              </a:rPr>
              <a:t>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233" y="4035028"/>
            <a:ext cx="2058700" cy="5179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A8C0D6"/>
                </a:solidFill>
                <a:latin typeface="Inter"/>
              </a:rPr>
              <a:t>Forecasts are selected primarily by WMAPE, ignoring operational consequences.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7300" y="2295525"/>
            <a:ext cx="1352550" cy="1352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90551" y="2821632"/>
            <a:ext cx="289470" cy="28961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35709" y="3892153"/>
            <a:ext cx="2343150" cy="8096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69755" y="2360562"/>
            <a:ext cx="478631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C9B1"/>
                </a:solidFill>
                <a:latin typeface="Inter"/>
              </a:rPr>
              <a:t>PHASE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9204" y="3585567"/>
            <a:ext cx="719732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0F4F8"/>
                </a:solidFill>
                <a:latin typeface="IBM Plex Sans"/>
              </a:rPr>
              <a:t>Objective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3074" y="4035028"/>
            <a:ext cx="1766063" cy="5617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A8C0D6"/>
                </a:solidFill>
                <a:latin typeface="Inter"/>
              </a:rPr>
              <a:t>Develop an artifact capable of selecting forecasts with lower operational risk.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29075" y="2295525"/>
            <a:ext cx="1352550" cy="1352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64260" y="2821632"/>
            <a:ext cx="289470" cy="28961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419" y="3892153"/>
            <a:ext cx="2343150" cy="8096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43464" y="2360562"/>
            <a:ext cx="478631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C9B1"/>
                </a:solidFill>
                <a:latin typeface="Inter"/>
              </a:rPr>
              <a:t>PHASE 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2983" y="3585567"/>
            <a:ext cx="559593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0F4F8"/>
                </a:solidFill>
                <a:latin typeface="IBM Plex Sans"/>
              </a:rPr>
              <a:t>Artifact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3336" y="4035028"/>
            <a:ext cx="2185166" cy="5179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 dirty="0">
                <a:solidFill>
                  <a:srgbClr val="A8C0D6"/>
                </a:solidFill>
                <a:latin typeface="Inter"/>
              </a:rPr>
              <a:t>Decision Score (DS) </a:t>
            </a:r>
            <a:r>
              <a:rPr lang="pt-BR" sz="984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984" b="0" i="0" dirty="0">
                <a:solidFill>
                  <a:srgbClr val="A8C0D6"/>
                </a:solidFill>
                <a:latin typeface="Inter"/>
              </a:rPr>
              <a:t> a composite metric integrating accuracy, bias, and asymmetric cost.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3700" y="2238375"/>
            <a:ext cx="1466850" cy="14668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01805" y="2821632"/>
            <a:ext cx="361950" cy="289619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3129" y="3892153"/>
            <a:ext cx="2343150" cy="8096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017174" y="2360562"/>
            <a:ext cx="478631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C9B1"/>
                </a:solidFill>
                <a:latin typeface="Inter"/>
              </a:rPr>
              <a:t>PHASE 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52421" y="3585567"/>
            <a:ext cx="808285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0F4F8"/>
                </a:solidFill>
                <a:latin typeface="IBM Plex Sans"/>
              </a:rPr>
              <a:t>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2394" y="4035028"/>
            <a:ext cx="1844396" cy="5179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A8C0D6"/>
                </a:solidFill>
                <a:latin typeface="Inter"/>
              </a:rPr>
              <a:t>Automotive industry case study using ANFAVEA data (2.86M vehicles).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2150" y="2295525"/>
            <a:ext cx="1352550" cy="13525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29837" y="2821632"/>
            <a:ext cx="253305" cy="2896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42" descr="image.png">
            <a:extLst>
              <a:ext uri="{FF2B5EF4-FFF2-40B4-BE49-F238E27FC236}">
                <a16:creationId xmlns:a16="http://schemas.microsoft.com/office/drawing/2014/main" id="{78C340D3-FB78-DD4C-1D58-FD40CEFD2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791" y="3505328"/>
            <a:ext cx="1402333" cy="487292"/>
          </a:xfrm>
          <a:prstGeom prst="rect">
            <a:avLst/>
          </a:prstGeom>
        </p:spPr>
      </p:pic>
      <p:pic>
        <p:nvPicPr>
          <p:cNvPr id="92" name="Picture 12" descr="image.png">
            <a:extLst>
              <a:ext uri="{FF2B5EF4-FFF2-40B4-BE49-F238E27FC236}">
                <a16:creationId xmlns:a16="http://schemas.microsoft.com/office/drawing/2014/main" id="{8A20A86F-0F55-A504-C1DF-13D339ECE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2" y="1116371"/>
            <a:ext cx="5572125" cy="581025"/>
          </a:xfrm>
          <a:prstGeom prst="rect">
            <a:avLst/>
          </a:prstGeom>
        </p:spPr>
      </p:pic>
      <p:pic>
        <p:nvPicPr>
          <p:cNvPr id="90" name="Picture 12" descr="image.png">
            <a:extLst>
              <a:ext uri="{FF2B5EF4-FFF2-40B4-BE49-F238E27FC236}">
                <a16:creationId xmlns:a16="http://schemas.microsoft.com/office/drawing/2014/main" id="{CA17EA3F-D466-F638-60FD-8E2FCC7F9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3" y="1901991"/>
            <a:ext cx="5572125" cy="581025"/>
          </a:xfrm>
          <a:prstGeom prst="rect">
            <a:avLst/>
          </a:prstGeom>
        </p:spPr>
      </p:pic>
      <p:pic>
        <p:nvPicPr>
          <p:cNvPr id="84" name="Picture 6" descr="image.png">
            <a:extLst>
              <a:ext uri="{FF2B5EF4-FFF2-40B4-BE49-F238E27FC236}">
                <a16:creationId xmlns:a16="http://schemas.microsoft.com/office/drawing/2014/main" id="{4EA0769A-CE02-1CA3-EE5A-060F3BE1F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11" y="1106902"/>
            <a:ext cx="5572125" cy="581025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2634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57200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0"/>
            <a:ext cx="1905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1442" y="205888"/>
            <a:ext cx="117261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00C9B1"/>
                </a:solidFill>
                <a:latin typeface="Inter"/>
              </a:rPr>
              <a:t>ARTIFACT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461" y="430979"/>
            <a:ext cx="7198667" cy="4693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 dirty="0">
                <a:solidFill>
                  <a:srgbClr val="F0F4F8"/>
                </a:solidFill>
                <a:latin typeface="IBM Plex Sans"/>
              </a:rPr>
              <a:t>Decision </a:t>
            </a:r>
            <a:r>
              <a:rPr lang="pt-BR" sz="3359" b="1" i="0" dirty="0">
                <a:solidFill>
                  <a:srgbClr val="F0F4F8"/>
                </a:solidFill>
                <a:latin typeface="IBM Plex Sans"/>
              </a:rPr>
              <a:t>Intelligence </a:t>
            </a:r>
            <a:r>
              <a:rPr sz="3359" b="1" i="0" dirty="0">
                <a:solidFill>
                  <a:srgbClr val="00C9B1"/>
                </a:solidFill>
                <a:latin typeface="IBM Plex Sans"/>
              </a:rPr>
              <a:t>Framework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2055487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216" y="2154458"/>
            <a:ext cx="162817" cy="1448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4425" y="2046706"/>
            <a:ext cx="1535757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 dirty="0">
                <a:solidFill>
                  <a:srgbClr val="F0F4F8"/>
                </a:solidFill>
                <a:latin typeface="IBM Plex Sans"/>
              </a:rPr>
              <a:t>Forecast </a:t>
            </a:r>
            <a:r>
              <a:rPr lang="pt-BR" sz="1230" b="1" dirty="0">
                <a:solidFill>
                  <a:srgbClr val="F0F4F8"/>
                </a:solidFill>
                <a:latin typeface="IBM Plex Sans"/>
              </a:rPr>
              <a:t>Model </a:t>
            </a:r>
            <a:r>
              <a:rPr lang="pt-BR" sz="1230" b="1" dirty="0" err="1">
                <a:solidFill>
                  <a:srgbClr val="F0F4F8"/>
                </a:solidFill>
                <a:latin typeface="IBM Plex Sans"/>
              </a:rPr>
              <a:t>Tournament</a:t>
            </a:r>
            <a:endParaRPr sz="1230" b="1" i="0" dirty="0">
              <a:solidFill>
                <a:srgbClr val="F0F4F8"/>
              </a:solidFill>
              <a:latin typeface="IBM Plex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4425" y="2253280"/>
            <a:ext cx="336530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 dirty="0">
                <a:solidFill>
                  <a:srgbClr val="A8C0D6"/>
                </a:solidFill>
                <a:latin typeface="Inter"/>
              </a:rPr>
              <a:t>Exponential Smoothing, </a:t>
            </a:r>
            <a:r>
              <a:rPr sz="989" b="0" i="0" dirty="0" err="1">
                <a:solidFill>
                  <a:srgbClr val="A8C0D6"/>
                </a:solidFill>
                <a:latin typeface="Inter"/>
              </a:rPr>
              <a:t>AutoARIMA</a:t>
            </a:r>
            <a:r>
              <a:rPr sz="989" b="0" i="0" dirty="0">
                <a:solidFill>
                  <a:srgbClr val="A8C0D6"/>
                </a:solidFill>
                <a:latin typeface="Inter"/>
              </a:rPr>
              <a:t>, Random Forest, others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2589675"/>
            <a:ext cx="114300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2914932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94" y="3013903"/>
            <a:ext cx="144660" cy="1448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4425" y="2906151"/>
            <a:ext cx="598437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WMAPE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425" y="3112724"/>
            <a:ext cx="363527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 dirty="0">
                <a:solidFill>
                  <a:srgbClr val="A8C0D6"/>
                </a:solidFill>
                <a:latin typeface="Inter"/>
              </a:rPr>
              <a:t>Weighted Mean Absolute Percentage Error </a:t>
            </a:r>
            <a:r>
              <a:rPr lang="pt-BR" sz="989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989" b="0" i="0" dirty="0">
                <a:solidFill>
                  <a:srgbClr val="A8C0D6"/>
                </a:solidFill>
                <a:latin typeface="Inter"/>
              </a:rPr>
              <a:t> statistical accuracy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3409799"/>
            <a:ext cx="114300" cy="114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3744884"/>
            <a:ext cx="342900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9137" y="3843854"/>
            <a:ext cx="180826" cy="1448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4425" y="3736103"/>
            <a:ext cx="329803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" y="3942676"/>
            <a:ext cx="291837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 dirty="0">
                <a:solidFill>
                  <a:srgbClr val="A8C0D6"/>
                </a:solidFill>
                <a:latin typeface="Inter"/>
              </a:rPr>
              <a:t>Directional allocation imbalance </a:t>
            </a:r>
            <a:r>
              <a:rPr lang="pt-BR" sz="989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989" b="0" i="0" dirty="0">
                <a:solidFill>
                  <a:srgbClr val="A8C0D6"/>
                </a:solidFill>
                <a:latin typeface="Inter"/>
              </a:rPr>
              <a:t> net forecast error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4239750"/>
            <a:ext cx="114300" cy="1143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4525677"/>
            <a:ext cx="342900" cy="3429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4381" y="4624648"/>
            <a:ext cx="90487" cy="1448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14425" y="4516896"/>
            <a:ext cx="1284237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Asymmetric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425" y="4723470"/>
            <a:ext cx="295319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>
                <a:solidFill>
                  <a:srgbClr val="A8C0D6"/>
                </a:solidFill>
                <a:latin typeface="Inter"/>
              </a:rPr>
              <a:t>Shortage (Cu) vs. excess inventory (Co) penalty ratio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450" y="5030375"/>
            <a:ext cx="114300" cy="1143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175" y="5286801"/>
            <a:ext cx="342900" cy="3429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216" y="5385772"/>
            <a:ext cx="162817" cy="1448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14425" y="5278020"/>
            <a:ext cx="1492299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 dirty="0">
                <a:solidFill>
                  <a:srgbClr val="00C9B1"/>
                </a:solidFill>
                <a:latin typeface="IBM Plex Sans"/>
              </a:rPr>
              <a:t>Decision Score (DS)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4425" y="5484594"/>
            <a:ext cx="333002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 dirty="0">
                <a:solidFill>
                  <a:srgbClr val="A8C0D6"/>
                </a:solidFill>
                <a:latin typeface="Inter"/>
              </a:rPr>
              <a:t>Composite operational risk score </a:t>
            </a:r>
            <a:r>
              <a:rPr lang="pt-BR" sz="989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989" b="0" i="0" dirty="0">
                <a:solidFill>
                  <a:srgbClr val="A8C0D6"/>
                </a:solidFill>
                <a:latin typeface="Inter"/>
              </a:rPr>
              <a:t> multi-criteria integration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450" y="5785052"/>
            <a:ext cx="114300" cy="1143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6028266"/>
            <a:ext cx="342900" cy="3429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7770" y="6127311"/>
            <a:ext cx="144660" cy="1448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114425" y="6019485"/>
            <a:ext cx="1336327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Selected Forecast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425" y="6226058"/>
            <a:ext cx="342111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989" b="0" i="0" dirty="0">
                <a:solidFill>
                  <a:srgbClr val="A8C0D6"/>
                </a:solidFill>
                <a:latin typeface="Inter"/>
              </a:rPr>
              <a:t>Forecast with lowest operational risk </a:t>
            </a:r>
            <a:r>
              <a:rPr lang="pt-BR" sz="989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989" b="0" i="0" dirty="0">
                <a:solidFill>
                  <a:srgbClr val="A8C0D6"/>
                </a:solidFill>
                <a:latin typeface="Inter"/>
              </a:rPr>
              <a:t> decision-ready output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68380" y="962322"/>
            <a:ext cx="5162550" cy="22098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380" y="4374103"/>
            <a:ext cx="1638300" cy="9429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30305" y="4696465"/>
            <a:ext cx="304800" cy="3048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570" y="4374103"/>
            <a:ext cx="1638300" cy="9429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90495" y="4696465"/>
            <a:ext cx="304800" cy="3048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760" y="4374103"/>
            <a:ext cx="1638300" cy="9429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50685" y="4696465"/>
            <a:ext cx="304800" cy="3048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68380" y="5553458"/>
            <a:ext cx="5162550" cy="1188393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787455" y="5734433"/>
            <a:ext cx="361950" cy="3619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34038" y="4816011"/>
            <a:ext cx="97184" cy="12948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68929" y="4784124"/>
            <a:ext cx="129480" cy="12948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338345" y="4784124"/>
            <a:ext cx="129480" cy="12948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11280" y="5839208"/>
            <a:ext cx="114300" cy="152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854130" y="1209972"/>
            <a:ext cx="63326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C9B1"/>
                </a:solidFill>
                <a:latin typeface="Inter"/>
              </a:rPr>
              <a:t>PURPOSE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4130" y="1489918"/>
            <a:ext cx="4707601" cy="62597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sz="2083" b="1" i="0">
                <a:solidFill>
                  <a:srgbClr val="F0F4F8"/>
                </a:solidFill>
                <a:latin typeface="IBM Plex Sans"/>
              </a:rPr>
              <a:t>Transform Forecast Evaluation into Decision Support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4130" y="2265610"/>
            <a:ext cx="4796414" cy="82637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 dirty="0">
                <a:solidFill>
                  <a:srgbClr val="A8C0D6"/>
                </a:solidFill>
                <a:latin typeface="Inter"/>
              </a:rPr>
              <a:t>The DS artifact integrates WMAPE, directional bias, and asymmetric cost penalty into a single composite score </a:t>
            </a:r>
            <a:r>
              <a:rPr lang="pt-BR" sz="1170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1170" b="0" i="0" dirty="0">
                <a:solidFill>
                  <a:srgbClr val="A8C0D6"/>
                </a:solidFill>
                <a:latin typeface="Inter"/>
              </a:rPr>
              <a:t> enabling selection of the forecast with lowest operational risk, not lowest statistical error.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8380" y="4046532"/>
            <a:ext cx="147950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A8C0D6"/>
                </a:solidFill>
                <a:latin typeface="Inter"/>
              </a:rPr>
              <a:t>INTEGRATED CRITERIA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0355" y="4615651"/>
            <a:ext cx="525512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dirty="0">
                <a:solidFill>
                  <a:srgbClr val="F0F4F8"/>
                </a:solidFill>
                <a:latin typeface="Inter"/>
              </a:rPr>
              <a:t>WMAPE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0355" y="4793947"/>
            <a:ext cx="581102" cy="3261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8C0D6"/>
                </a:solidFill>
                <a:latin typeface="Inter"/>
              </a:rPr>
              <a:t>Statistical accuracy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90545" y="4526503"/>
            <a:ext cx="800311" cy="3306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dirty="0">
                <a:solidFill>
                  <a:srgbClr val="F0F4F8"/>
                </a:solidFill>
                <a:latin typeface="Inter"/>
              </a:rPr>
              <a:t>Directional Bias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90545" y="4883095"/>
            <a:ext cx="614980" cy="3081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8C0D6"/>
                </a:solidFill>
                <a:latin typeface="Inter"/>
              </a:rPr>
              <a:t>Allocation imbalance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0735" y="4615651"/>
            <a:ext cx="830312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0F4F8"/>
                </a:solidFill>
                <a:latin typeface="Inter"/>
              </a:rPr>
              <a:t>Cost Penalty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50735" y="4793947"/>
            <a:ext cx="655296" cy="2869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09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8C0D6"/>
                </a:solidFill>
                <a:latin typeface="Inter"/>
              </a:rPr>
              <a:t>Cu / Co asymmetry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82755" y="5763008"/>
            <a:ext cx="821382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A623"/>
                </a:solidFill>
                <a:latin typeface="IBM Plex Sans"/>
              </a:rPr>
              <a:t>Key Insight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82755" y="6020183"/>
            <a:ext cx="4350117" cy="499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dirty="0">
                <a:solidFill>
                  <a:srgbClr val="A8C0D6"/>
                </a:solidFill>
                <a:latin typeface="Inter"/>
              </a:rPr>
              <a:t>The most accurate forecast is not always the most useful planning decision. DS selects for operational quality, not just statistical quality.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43650" y="571500"/>
            <a:ext cx="9525" cy="57150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  <p:sp>
        <p:nvSpPr>
          <p:cNvPr id="72" name="TextBox 9">
            <a:extLst>
              <a:ext uri="{FF2B5EF4-FFF2-40B4-BE49-F238E27FC236}">
                <a16:creationId xmlns:a16="http://schemas.microsoft.com/office/drawing/2014/main" id="{4C232AEE-0360-2EAA-A8C0-B3E3142251E3}"/>
              </a:ext>
            </a:extLst>
          </p:cNvPr>
          <p:cNvSpPr txBox="1"/>
          <p:nvPr/>
        </p:nvSpPr>
        <p:spPr>
          <a:xfrm>
            <a:off x="1143000" y="1517831"/>
            <a:ext cx="1535757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endParaRPr sz="1230" b="1" i="0" dirty="0">
              <a:solidFill>
                <a:srgbClr val="F0F4F8"/>
              </a:solidFill>
              <a:latin typeface="IBM Plex Sans"/>
            </a:endParaRPr>
          </a:p>
        </p:txBody>
      </p:sp>
      <p:sp>
        <p:nvSpPr>
          <p:cNvPr id="74" name="TextBox 9">
            <a:extLst>
              <a:ext uri="{FF2B5EF4-FFF2-40B4-BE49-F238E27FC236}">
                <a16:creationId xmlns:a16="http://schemas.microsoft.com/office/drawing/2014/main" id="{35C1687C-06D3-F433-AE62-47F8032BF987}"/>
              </a:ext>
            </a:extLst>
          </p:cNvPr>
          <p:cNvSpPr txBox="1"/>
          <p:nvPr/>
        </p:nvSpPr>
        <p:spPr>
          <a:xfrm>
            <a:off x="1129165" y="1176383"/>
            <a:ext cx="1535757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476"/>
              </a:lnSpc>
            </a:pPr>
            <a:r>
              <a:rPr lang="pt-BR" sz="1230" b="1" dirty="0" err="1">
                <a:solidFill>
                  <a:srgbClr val="F0F4F8"/>
                </a:solidFill>
                <a:latin typeface="IBM Plex Sans"/>
              </a:rPr>
              <a:t>Signal</a:t>
            </a:r>
            <a:r>
              <a:rPr lang="pt-BR" sz="1230" b="1" dirty="0">
                <a:solidFill>
                  <a:srgbClr val="F0F4F8"/>
                </a:solidFill>
                <a:latin typeface="IBM Plex Sans"/>
              </a:rPr>
              <a:t> </a:t>
            </a:r>
            <a:r>
              <a:rPr lang="pt-BR" sz="1230" b="1" dirty="0" err="1">
                <a:solidFill>
                  <a:srgbClr val="F0F4F8"/>
                </a:solidFill>
                <a:latin typeface="IBM Plex Sans"/>
              </a:rPr>
              <a:t>Transformation</a:t>
            </a:r>
            <a:r>
              <a:rPr lang="pt-BR" sz="1230" b="1" dirty="0">
                <a:solidFill>
                  <a:srgbClr val="F0F4F8"/>
                </a:solidFill>
                <a:latin typeface="IBM Plex Sans"/>
              </a:rPr>
              <a:t> </a:t>
            </a:r>
            <a:r>
              <a:rPr lang="pt-BR" sz="1230" b="1" dirty="0" err="1">
                <a:solidFill>
                  <a:srgbClr val="F0F4F8"/>
                </a:solidFill>
                <a:latin typeface="IBM Plex Sans"/>
              </a:rPr>
              <a:t>Tournament</a:t>
            </a:r>
            <a:endParaRPr lang="pt-BR" sz="1230" b="1" dirty="0">
              <a:solidFill>
                <a:srgbClr val="F0F4F8"/>
              </a:solidFill>
              <a:latin typeface="IBM Plex Sans"/>
            </a:endParaRPr>
          </a:p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endParaRPr sz="1230" b="1" i="0" dirty="0">
              <a:solidFill>
                <a:srgbClr val="F0F4F8"/>
              </a:solidFill>
              <a:latin typeface="IBM Plex Sans"/>
            </a:endParaRPr>
          </a:p>
        </p:txBody>
      </p:sp>
      <p:sp>
        <p:nvSpPr>
          <p:cNvPr id="76" name="TextBox 10">
            <a:extLst>
              <a:ext uri="{FF2B5EF4-FFF2-40B4-BE49-F238E27FC236}">
                <a16:creationId xmlns:a16="http://schemas.microsoft.com/office/drawing/2014/main" id="{8EC2C58F-5D71-DABA-FA18-F8CEC35E15C6}"/>
              </a:ext>
            </a:extLst>
          </p:cNvPr>
          <p:cNvSpPr txBox="1"/>
          <p:nvPr/>
        </p:nvSpPr>
        <p:spPr>
          <a:xfrm>
            <a:off x="1138536" y="1315265"/>
            <a:ext cx="336530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989" dirty="0" err="1">
                <a:solidFill>
                  <a:srgbClr val="A8C0D6"/>
                </a:solidFill>
                <a:latin typeface="Inter"/>
              </a:rPr>
              <a:t>Eight</a:t>
            </a:r>
            <a:r>
              <a:rPr lang="pt-BR" sz="989" dirty="0">
                <a:solidFill>
                  <a:srgbClr val="A8C0D6"/>
                </a:solidFill>
                <a:latin typeface="Inter"/>
              </a:rPr>
              <a:t> </a:t>
            </a:r>
            <a:r>
              <a:rPr lang="pt-BR" sz="989" dirty="0" err="1">
                <a:solidFill>
                  <a:srgbClr val="A8C0D6"/>
                </a:solidFill>
                <a:latin typeface="Inter"/>
              </a:rPr>
              <a:t>alternative</a:t>
            </a:r>
            <a:r>
              <a:rPr lang="pt-BR" sz="989" dirty="0">
                <a:solidFill>
                  <a:srgbClr val="A8C0D6"/>
                </a:solidFill>
                <a:latin typeface="Inter"/>
              </a:rPr>
              <a:t> </a:t>
            </a:r>
            <a:r>
              <a:rPr lang="pt-BR" sz="989" dirty="0" err="1">
                <a:solidFill>
                  <a:srgbClr val="A8C0D6"/>
                </a:solidFill>
                <a:latin typeface="Inter"/>
              </a:rPr>
              <a:t>signal</a:t>
            </a:r>
            <a:r>
              <a:rPr lang="pt-BR" sz="989" dirty="0">
                <a:solidFill>
                  <a:srgbClr val="A8C0D6"/>
                </a:solidFill>
                <a:latin typeface="Inter"/>
              </a:rPr>
              <a:t> </a:t>
            </a:r>
            <a:r>
              <a:rPr lang="pt-BR" sz="989" dirty="0" err="1">
                <a:solidFill>
                  <a:srgbClr val="A8C0D6"/>
                </a:solidFill>
                <a:latin typeface="Inter"/>
              </a:rPr>
              <a:t>representations</a:t>
            </a:r>
            <a:r>
              <a:rPr lang="pt-BR" sz="989" dirty="0">
                <a:solidFill>
                  <a:srgbClr val="A8C0D6"/>
                </a:solidFill>
                <a:latin typeface="Inter"/>
              </a:rPr>
              <a:t> compete </a:t>
            </a:r>
            <a:r>
              <a:rPr lang="pt-BR" sz="989" dirty="0" err="1">
                <a:solidFill>
                  <a:srgbClr val="A8C0D6"/>
                </a:solidFill>
                <a:latin typeface="Inter"/>
              </a:rPr>
              <a:t>before</a:t>
            </a:r>
            <a:r>
              <a:rPr lang="pt-BR" sz="989" dirty="0">
                <a:solidFill>
                  <a:srgbClr val="A8C0D6"/>
                </a:solidFill>
                <a:latin typeface="Inter"/>
              </a:rPr>
              <a:t> model </a:t>
            </a:r>
            <a:r>
              <a:rPr lang="pt-BR" sz="989" dirty="0" err="1">
                <a:solidFill>
                  <a:srgbClr val="A8C0D6"/>
                </a:solidFill>
                <a:latin typeface="Inter"/>
              </a:rPr>
              <a:t>evaluation</a:t>
            </a:r>
            <a:r>
              <a:rPr lang="pt-BR" dirty="0"/>
              <a:t>.</a:t>
            </a:r>
          </a:p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endParaRPr sz="989" b="0" i="0" dirty="0">
              <a:solidFill>
                <a:srgbClr val="A8C0D6"/>
              </a:solidFill>
              <a:latin typeface="Inter"/>
            </a:endParaRPr>
          </a:p>
        </p:txBody>
      </p:sp>
      <p:pic>
        <p:nvPicPr>
          <p:cNvPr id="80" name="Picture 7" descr="image.png">
            <a:extLst>
              <a:ext uri="{FF2B5EF4-FFF2-40B4-BE49-F238E27FC236}">
                <a16:creationId xmlns:a16="http://schemas.microsoft.com/office/drawing/2014/main" id="{1CEE96B8-54C0-6B31-3DF9-B85B2BA5F3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019" y="1175920"/>
            <a:ext cx="342900" cy="342900"/>
          </a:xfrm>
          <a:prstGeom prst="rect">
            <a:avLst/>
          </a:prstGeom>
        </p:spPr>
      </p:pic>
      <p:pic>
        <p:nvPicPr>
          <p:cNvPr id="82" name="Picture 52" descr="image.png">
            <a:extLst>
              <a:ext uri="{FF2B5EF4-FFF2-40B4-BE49-F238E27FC236}">
                <a16:creationId xmlns:a16="http://schemas.microsoft.com/office/drawing/2014/main" id="{FD16966C-7CDA-50B4-46A6-C6FC5B8F82B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4381" y="1277404"/>
            <a:ext cx="129480" cy="129480"/>
          </a:xfrm>
          <a:prstGeom prst="rect">
            <a:avLst/>
          </a:prstGeom>
        </p:spPr>
      </p:pic>
      <p:pic>
        <p:nvPicPr>
          <p:cNvPr id="88" name="Picture 11" descr="image.png">
            <a:extLst>
              <a:ext uri="{FF2B5EF4-FFF2-40B4-BE49-F238E27FC236}">
                <a16:creationId xmlns:a16="http://schemas.microsoft.com/office/drawing/2014/main" id="{ED613099-F4C7-2A38-D73B-BBF0346835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769" y="1779454"/>
            <a:ext cx="114300" cy="114300"/>
          </a:xfrm>
          <a:prstGeom prst="rect">
            <a:avLst/>
          </a:prstGeom>
        </p:spPr>
      </p:pic>
      <p:sp>
        <p:nvSpPr>
          <p:cNvPr id="94" name="TextBox 57">
            <a:extLst>
              <a:ext uri="{FF2B5EF4-FFF2-40B4-BE49-F238E27FC236}">
                <a16:creationId xmlns:a16="http://schemas.microsoft.com/office/drawing/2014/main" id="{7123CA73-801B-1099-FDCC-CB32E8DC28B4}"/>
              </a:ext>
            </a:extLst>
          </p:cNvPr>
          <p:cNvSpPr txBox="1"/>
          <p:nvPr/>
        </p:nvSpPr>
        <p:spPr>
          <a:xfrm>
            <a:off x="6568380" y="3317201"/>
            <a:ext cx="147950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530"/>
              </a:lnSpc>
            </a:pPr>
            <a:r>
              <a:rPr lang="pt-BR" sz="1019" b="1" dirty="0">
                <a:solidFill>
                  <a:srgbClr val="A8C0D6"/>
                </a:solidFill>
                <a:latin typeface="Inter"/>
              </a:rPr>
              <a:t>PRATICAL DEPLOYMENT</a:t>
            </a:r>
          </a:p>
        </p:txBody>
      </p:sp>
      <p:sp>
        <p:nvSpPr>
          <p:cNvPr id="96" name="TextBox 58">
            <a:extLst>
              <a:ext uri="{FF2B5EF4-FFF2-40B4-BE49-F238E27FC236}">
                <a16:creationId xmlns:a16="http://schemas.microsoft.com/office/drawing/2014/main" id="{2AFD6FC7-4C5C-8F0B-F267-D143F945A87A}"/>
              </a:ext>
            </a:extLst>
          </p:cNvPr>
          <p:cNvSpPr txBox="1"/>
          <p:nvPr/>
        </p:nvSpPr>
        <p:spPr>
          <a:xfrm>
            <a:off x="6853640" y="3669428"/>
            <a:ext cx="525512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80" b="1" dirty="0">
                <a:solidFill>
                  <a:srgbClr val="F0F4F8"/>
                </a:solidFill>
                <a:latin typeface="Inter"/>
              </a:rPr>
              <a:t>Python + </a:t>
            </a:r>
            <a:r>
              <a:rPr lang="pt-BR" sz="1080" b="1" dirty="0" err="1">
                <a:solidFill>
                  <a:srgbClr val="F0F4F8"/>
                </a:solidFill>
                <a:latin typeface="Inter"/>
              </a:rPr>
              <a:t>Streamlit</a:t>
            </a:r>
            <a:endParaRPr sz="1080" b="1" i="0" dirty="0">
              <a:solidFill>
                <a:srgbClr val="F0F4F8"/>
              </a:solidFill>
              <a:latin typeface="Inter"/>
            </a:endParaRPr>
          </a:p>
        </p:txBody>
      </p:sp>
      <p:sp>
        <p:nvSpPr>
          <p:cNvPr id="98" name="TextBox 60">
            <a:extLst>
              <a:ext uri="{FF2B5EF4-FFF2-40B4-BE49-F238E27FC236}">
                <a16:creationId xmlns:a16="http://schemas.microsoft.com/office/drawing/2014/main" id="{1AA1A767-1CBE-2427-5F20-158E6D580A7F}"/>
              </a:ext>
            </a:extLst>
          </p:cNvPr>
          <p:cNvSpPr txBox="1"/>
          <p:nvPr/>
        </p:nvSpPr>
        <p:spPr>
          <a:xfrm>
            <a:off x="8608822" y="3666040"/>
            <a:ext cx="1841896" cy="3306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1404"/>
              </a:lnSpc>
            </a:pPr>
            <a:r>
              <a:rPr lang="pt-BR" sz="1080" b="1" dirty="0">
                <a:solidFill>
                  <a:srgbClr val="F0F4F8"/>
                </a:solidFill>
                <a:latin typeface="Inter"/>
              </a:rPr>
              <a:t>Standard Laptop </a:t>
            </a:r>
          </a:p>
          <a:p>
            <a:pPr>
              <a:lnSpc>
                <a:spcPts val="1404"/>
              </a:lnSpc>
            </a:pPr>
            <a:r>
              <a:rPr lang="pt-BR" sz="1080" b="1" dirty="0">
                <a:solidFill>
                  <a:srgbClr val="F0F4F8"/>
                </a:solidFill>
                <a:latin typeface="Inter"/>
              </a:rPr>
              <a:t>(i7 / 8GB RAM)</a:t>
            </a:r>
          </a:p>
          <a:p>
            <a:pPr>
              <a:lnSpc>
                <a:spcPts val="1404"/>
              </a:lnSpc>
            </a:pPr>
            <a:endParaRPr lang="pt-BR" sz="1080" b="1" dirty="0">
              <a:solidFill>
                <a:srgbClr val="F0F4F8"/>
              </a:solidFill>
              <a:latin typeface="Inter"/>
            </a:endParaRPr>
          </a:p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endParaRPr sz="1080" b="1" i="0" dirty="0">
              <a:solidFill>
                <a:srgbClr val="F0F4F8"/>
              </a:solidFill>
              <a:latin typeface="Inter"/>
            </a:endParaRPr>
          </a:p>
        </p:txBody>
      </p:sp>
      <p:pic>
        <p:nvPicPr>
          <p:cNvPr id="102" name="Picture 7" descr="image.png">
            <a:extLst>
              <a:ext uri="{FF2B5EF4-FFF2-40B4-BE49-F238E27FC236}">
                <a16:creationId xmlns:a16="http://schemas.microsoft.com/office/drawing/2014/main" id="{4B9B53A7-1C3B-D6D5-778E-04083FB51D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448" y="3578660"/>
            <a:ext cx="342900" cy="342900"/>
          </a:xfrm>
          <a:prstGeom prst="rect">
            <a:avLst/>
          </a:prstGeom>
        </p:spPr>
      </p:pic>
      <p:pic>
        <p:nvPicPr>
          <p:cNvPr id="104" name="Picture 52" descr="image.png">
            <a:extLst>
              <a:ext uri="{FF2B5EF4-FFF2-40B4-BE49-F238E27FC236}">
                <a16:creationId xmlns:a16="http://schemas.microsoft.com/office/drawing/2014/main" id="{258E9A10-4D71-E7A8-A50B-428725DEF86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07810" y="3680144"/>
            <a:ext cx="129480" cy="129480"/>
          </a:xfrm>
          <a:prstGeom prst="rect">
            <a:avLst/>
          </a:prstGeom>
        </p:spPr>
      </p:pic>
      <p:pic>
        <p:nvPicPr>
          <p:cNvPr id="106" name="Picture 7" descr="image.png">
            <a:extLst>
              <a:ext uri="{FF2B5EF4-FFF2-40B4-BE49-F238E27FC236}">
                <a16:creationId xmlns:a16="http://schemas.microsoft.com/office/drawing/2014/main" id="{138F35AA-DA8A-9D29-DC66-378AEF02B5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0962" y="3606346"/>
            <a:ext cx="342900" cy="342900"/>
          </a:xfrm>
          <a:prstGeom prst="rect">
            <a:avLst/>
          </a:prstGeom>
        </p:spPr>
      </p:pic>
      <p:pic>
        <p:nvPicPr>
          <p:cNvPr id="108" name="Picture 8" descr="image.png">
            <a:extLst>
              <a:ext uri="{FF2B5EF4-FFF2-40B4-BE49-F238E27FC236}">
                <a16:creationId xmlns:a16="http://schemas.microsoft.com/office/drawing/2014/main" id="{56C5F7DF-A4B2-7C5F-806A-FE6E4E302A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1003" y="3705317"/>
            <a:ext cx="162817" cy="144809"/>
          </a:xfrm>
          <a:prstGeom prst="rect">
            <a:avLst/>
          </a:prstGeom>
        </p:spPr>
      </p:pic>
      <p:sp>
        <p:nvSpPr>
          <p:cNvPr id="112" name="TextBox 58">
            <a:extLst>
              <a:ext uri="{FF2B5EF4-FFF2-40B4-BE49-F238E27FC236}">
                <a16:creationId xmlns:a16="http://schemas.microsoft.com/office/drawing/2014/main" id="{E9268413-A16C-6D8B-5EE8-B055F82D0116}"/>
              </a:ext>
            </a:extLst>
          </p:cNvPr>
          <p:cNvSpPr txBox="1"/>
          <p:nvPr/>
        </p:nvSpPr>
        <p:spPr>
          <a:xfrm>
            <a:off x="10310395" y="3712289"/>
            <a:ext cx="525512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404"/>
              </a:lnSpc>
            </a:pPr>
            <a:r>
              <a:rPr lang="pt-BR" sz="1080" b="1" dirty="0" err="1">
                <a:solidFill>
                  <a:srgbClr val="F0F4F8"/>
                </a:solidFill>
                <a:latin typeface="Inter"/>
              </a:rPr>
              <a:t>Execution</a:t>
            </a:r>
            <a:r>
              <a:rPr lang="pt-BR" sz="1080" b="1" dirty="0">
                <a:solidFill>
                  <a:srgbClr val="F0F4F8"/>
                </a:solidFill>
                <a:latin typeface="Inter"/>
              </a:rPr>
              <a:t> Time: 8m 37s</a:t>
            </a:r>
          </a:p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endParaRPr sz="1080" b="1" i="0" dirty="0">
              <a:solidFill>
                <a:srgbClr val="F0F4F8"/>
              </a:solidFill>
              <a:latin typeface="Inter"/>
            </a:endParaRPr>
          </a:p>
        </p:txBody>
      </p:sp>
      <p:pic>
        <p:nvPicPr>
          <p:cNvPr id="114" name="Picture 34" descr="image.png">
            <a:extLst>
              <a:ext uri="{FF2B5EF4-FFF2-40B4-BE49-F238E27FC236}">
                <a16:creationId xmlns:a16="http://schemas.microsoft.com/office/drawing/2014/main" id="{0F6DDAE2-0091-BC1B-1862-42D80F4D7DD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988401" y="3688528"/>
            <a:ext cx="200717" cy="160606"/>
          </a:xfrm>
          <a:prstGeom prst="rect">
            <a:avLst/>
          </a:prstGeom>
        </p:spPr>
      </p:pic>
      <p:pic>
        <p:nvPicPr>
          <p:cNvPr id="116" name="Picture 7" descr="image.png">
            <a:extLst>
              <a:ext uri="{FF2B5EF4-FFF2-40B4-BE49-F238E27FC236}">
                <a16:creationId xmlns:a16="http://schemas.microsoft.com/office/drawing/2014/main" id="{411542BA-288E-683A-59BC-2C8E9246C6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7785" y="3638174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47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952" y="470594"/>
            <a:ext cx="1438275" cy="209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560" y="241951"/>
            <a:ext cx="5666630" cy="46085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629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00C9B1"/>
                </a:solidFill>
                <a:latin typeface="IBM Plex Sans"/>
              </a:rPr>
              <a:t>Decision Score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7858" y="510480"/>
            <a:ext cx="124464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A623"/>
                </a:solidFill>
                <a:latin typeface="Inter"/>
              </a:rPr>
              <a:t>ARTIFACT DEFINITION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560" y="1417885"/>
            <a:ext cx="11210925" cy="619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60" y="5678685"/>
            <a:ext cx="11210925" cy="590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9951" y="1656010"/>
            <a:ext cx="61912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0C9B1"/>
                </a:solidFill>
                <a:latin typeface="Inter"/>
              </a:rP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3876" y="1579810"/>
            <a:ext cx="7771217" cy="3154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2484"/>
              </a:lnSpc>
              <a:spcBef>
                <a:spcPts val="0"/>
              </a:spcBef>
              <a:spcAft>
                <a:spcPts val="0"/>
              </a:spcAft>
            </a:pPr>
            <a:r>
              <a:rPr sz="2070" b="1" i="0">
                <a:solidFill>
                  <a:srgbClr val="00C9B1"/>
                </a:solidFill>
                <a:latin typeface="IBM Plex Mono"/>
              </a:rPr>
              <a:t>DS</a:t>
            </a:r>
            <a:r>
              <a:rPr sz="2070" b="1" i="0">
                <a:solidFill>
                  <a:srgbClr val="F0F4F8"/>
                </a:solidFill>
                <a:latin typeface="IBM Plex Mono"/>
              </a:rPr>
              <a:t> =  </a:t>
            </a:r>
            <a:r>
              <a:rPr sz="2070" b="1" i="0">
                <a:solidFill>
                  <a:srgbClr val="4A90D9"/>
                </a:solidFill>
                <a:latin typeface="IBM Plex Mono"/>
              </a:rPr>
              <a:t>WMAPE</a:t>
            </a:r>
            <a:r>
              <a:rPr sz="2070" b="1" i="0">
                <a:solidFill>
                  <a:srgbClr val="F0F4F8"/>
                </a:solidFill>
                <a:latin typeface="IBM Plex Mono"/>
              </a:rPr>
              <a:t> +  ( </a:t>
            </a:r>
            <a:r>
              <a:rPr sz="2070" b="1" i="0">
                <a:solidFill>
                  <a:srgbClr val="F5A623"/>
                </a:solidFill>
                <a:latin typeface="IBM Plex Mono"/>
              </a:rPr>
              <a:t>|Bias|</a:t>
            </a:r>
            <a:r>
              <a:rPr sz="2070" b="1" i="0">
                <a:solidFill>
                  <a:srgbClr val="F0F4F8"/>
                </a:solidFill>
                <a:latin typeface="IBM Plex Mono"/>
              </a:rPr>
              <a:t> × Penalty ) / </a:t>
            </a:r>
            <a:r>
              <a:rPr sz="2070" b="1" i="0">
                <a:solidFill>
                  <a:srgbClr val="C084FC"/>
                </a:solidFill>
                <a:latin typeface="IBM Plex Mono"/>
              </a:rPr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846" y="5910708"/>
            <a:ext cx="728364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C9B1"/>
                </a:solidFill>
                <a:latin typeface="Inter"/>
              </a:rP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092" y="5796706"/>
            <a:ext cx="9930870" cy="342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 dirty="0">
                <a:solidFill>
                  <a:srgbClr val="F0F4F8"/>
                </a:solidFill>
                <a:latin typeface="Inter"/>
              </a:rPr>
              <a:t>DS selects the forecast with the lowest operational risk , not merely the lowest statistical error </a:t>
            </a:r>
            <a:r>
              <a:rPr lang="pt-BR" sz="1110" b="1" i="0" dirty="0">
                <a:solidFill>
                  <a:srgbClr val="F0F4F8"/>
                </a:solidFill>
                <a:latin typeface="Inter"/>
              </a:rPr>
              <a:t>-</a:t>
            </a:r>
            <a:r>
              <a:rPr sz="1110" b="1" i="0" dirty="0">
                <a:solidFill>
                  <a:srgbClr val="F0F4F8"/>
                </a:solidFill>
                <a:latin typeface="Inter"/>
              </a:rPr>
              <a:t> bridging accuracy measurement and planning decision quality.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560" y="2189410"/>
            <a:ext cx="54197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560" y="2469356"/>
            <a:ext cx="5419725" cy="762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282" y="2568326"/>
            <a:ext cx="48577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560" y="3235969"/>
            <a:ext cx="5419725" cy="762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282" y="3334940"/>
            <a:ext cx="40957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560" y="4002583"/>
            <a:ext cx="5419725" cy="762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282" y="4101554"/>
            <a:ext cx="647700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9282" y="4868167"/>
            <a:ext cx="571500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8760" y="2189410"/>
            <a:ext cx="541972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8760" y="2469356"/>
            <a:ext cx="5419725" cy="7524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8760" y="3222426"/>
            <a:ext cx="5419725" cy="7524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8760" y="3975496"/>
            <a:ext cx="5419725" cy="7524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7560" y="2189410"/>
            <a:ext cx="1547514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E6B8C"/>
                </a:solidFill>
                <a:latin typeface="Inter"/>
              </a:rPr>
              <a:t>COMPONENT DEFINITIONS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560" y="2566392"/>
            <a:ext cx="131415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C9B1"/>
                </a:solidFill>
                <a:latin typeface="Inter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563" y="2575917"/>
            <a:ext cx="38859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4A90D9"/>
                </a:solidFill>
                <a:latin typeface="IBM Plex Mono"/>
              </a:rPr>
              <a:t>WMAPE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2533" y="2537817"/>
            <a:ext cx="1434851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 Forecast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282" y="2785318"/>
            <a:ext cx="5200280" cy="3443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dirty="0">
                <a:solidFill>
                  <a:srgbClr val="A8C0D6"/>
                </a:solidFill>
                <a:latin typeface="Inter"/>
              </a:rPr>
              <a:t>Weighted Mean Absolute Percentage Error </a:t>
            </a:r>
            <a:r>
              <a:rPr lang="pt-BR" sz="1080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1080" b="0" i="0" dirty="0">
                <a:solidFill>
                  <a:srgbClr val="A8C0D6"/>
                </a:solidFill>
                <a:latin typeface="Inter"/>
              </a:rPr>
              <a:t> measures statistical forecast quality across all segments.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560" y="3333005"/>
            <a:ext cx="131415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C9B1"/>
                </a:solidFill>
                <a:latin typeface="Inter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563" y="3342530"/>
            <a:ext cx="31090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5A623"/>
                </a:solidFill>
                <a:latin typeface="IBM Plex Mono"/>
              </a:rPr>
              <a:t>Bias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4845" y="3304430"/>
            <a:ext cx="1599307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 Allocation Imbalance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282" y="3551932"/>
            <a:ext cx="4998546" cy="3443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C0D6"/>
                </a:solidFill>
                <a:latin typeface="Inter"/>
              </a:rPr>
              <a:t>Net directional error capturing systematic over- or under-forecasting patterns in allocation.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560" y="4099619"/>
            <a:ext cx="131415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C9B1"/>
                </a:solidFill>
                <a:latin typeface="Inter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563" y="4109144"/>
            <a:ext cx="54396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C9B1"/>
                </a:solidFill>
                <a:latin typeface="IBM Plex Mono"/>
              </a:rPr>
              <a:t>Cu / 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7910" y="4071044"/>
            <a:ext cx="1755427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 Asymmetric Cost 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282" y="4318545"/>
            <a:ext cx="4661148" cy="3573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dirty="0">
                <a:solidFill>
                  <a:srgbClr val="F0F4F8"/>
                </a:solidFill>
                <a:latin typeface="Inter"/>
              </a:rPr>
              <a:t>Cu</a:t>
            </a:r>
            <a:r>
              <a:rPr sz="1080" b="0" i="0" dirty="0">
                <a:solidFill>
                  <a:srgbClr val="A8C0D6"/>
                </a:solidFill>
                <a:latin typeface="Inter"/>
              </a:rPr>
              <a:t> = shortage cost (</a:t>
            </a:r>
            <a:r>
              <a:rPr sz="1080" b="0" i="0" dirty="0" err="1">
                <a:solidFill>
                  <a:srgbClr val="A8C0D6"/>
                </a:solidFill>
                <a:latin typeface="Inter"/>
              </a:rPr>
              <a:t>underforecast</a:t>
            </a:r>
            <a:r>
              <a:rPr sz="1080" b="0" i="0" dirty="0">
                <a:solidFill>
                  <a:srgbClr val="A8C0D6"/>
                </a:solidFill>
                <a:latin typeface="Inter"/>
              </a:rPr>
              <a:t> penalty)  </a:t>
            </a:r>
            <a:r>
              <a:rPr lang="pt-BR" sz="1080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1080" b="0" i="0" dirty="0">
                <a:solidFill>
                  <a:srgbClr val="A8C0D6"/>
                </a:solidFill>
                <a:latin typeface="Inter"/>
              </a:rPr>
              <a:t>  </a:t>
            </a:r>
            <a:r>
              <a:rPr sz="1080" b="1" i="0" dirty="0">
                <a:solidFill>
                  <a:srgbClr val="F0F4F8"/>
                </a:solidFill>
                <a:latin typeface="Inter"/>
              </a:rPr>
              <a:t>Co</a:t>
            </a:r>
            <a:r>
              <a:rPr sz="1080" b="0" i="0" dirty="0">
                <a:solidFill>
                  <a:srgbClr val="A8C0D6"/>
                </a:solidFill>
                <a:latin typeface="Inter"/>
              </a:rPr>
              <a:t> = excess inventory cost (</a:t>
            </a:r>
            <a:r>
              <a:rPr sz="1080" b="0" i="0" dirty="0" err="1">
                <a:solidFill>
                  <a:srgbClr val="A8C0D6"/>
                </a:solidFill>
                <a:latin typeface="Inter"/>
              </a:rPr>
              <a:t>overforecast</a:t>
            </a:r>
            <a:r>
              <a:rPr sz="1080" b="0" i="0" dirty="0">
                <a:solidFill>
                  <a:srgbClr val="A8C0D6"/>
                </a:solidFill>
                <a:latin typeface="Inter"/>
              </a:rPr>
              <a:t> penalty). Penalty = Cu / Co.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560" y="4866233"/>
            <a:ext cx="131415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00C9B1"/>
                </a:solidFill>
                <a:latin typeface="Inter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563" y="4875758"/>
            <a:ext cx="466278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C084FC"/>
                </a:solidFill>
                <a:latin typeface="IBM Plex Mono"/>
              </a:rPr>
              <a:t>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40222" y="4837658"/>
            <a:ext cx="1778347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 Segment Normalization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282" y="5085159"/>
            <a:ext cx="5140035" cy="3443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C0D6"/>
                </a:solidFill>
                <a:latin typeface="Inter"/>
              </a:rPr>
              <a:t>Normalizes the bias penalty by segment volume, enabling fair comparison across product categories.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8760" y="2189410"/>
            <a:ext cx="101857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E6B8C"/>
                </a:solidFill>
                <a:latin typeface="Inter"/>
              </a:rPr>
              <a:t>INTERPRETATION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78760" y="2537817"/>
            <a:ext cx="2151459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WMAPE </a:t>
            </a:r>
            <a:r>
              <a:rPr sz="1230" b="1" i="0">
                <a:solidFill>
                  <a:srgbClr val="F0F4F8"/>
                </a:solidFill>
                <a:latin typeface="Cambria Math"/>
              </a:rPr>
              <a:t>→ </a:t>
            </a:r>
            <a:r>
              <a:rPr sz="1230" b="1" i="0">
                <a:solidFill>
                  <a:srgbClr val="F0F4F8"/>
                </a:solidFill>
                <a:latin typeface="IBM Plex Sans"/>
              </a:rPr>
              <a:t>Statistical Quality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8760" y="2771775"/>
            <a:ext cx="5218675" cy="355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C0D6"/>
                </a:solidFill>
                <a:latin typeface="Inter"/>
              </a:rPr>
              <a:t>The WMAPE component preserves the conventional accuracy signal, ensuring the selected forecast remains statistically competitive.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78760" y="3290887"/>
            <a:ext cx="1899939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DS </a:t>
            </a:r>
            <a:r>
              <a:rPr sz="1230" b="1" i="0">
                <a:solidFill>
                  <a:srgbClr val="F0F4F8"/>
                </a:solidFill>
                <a:latin typeface="Cambria Math"/>
              </a:rPr>
              <a:t>→ </a:t>
            </a:r>
            <a:r>
              <a:rPr sz="1230" b="1" i="0">
                <a:solidFill>
                  <a:srgbClr val="F0F4F8"/>
                </a:solidFill>
                <a:latin typeface="IBM Plex Sans"/>
              </a:rPr>
              <a:t>Operational Quality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8760" y="3524845"/>
            <a:ext cx="5422401" cy="3953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C0D6"/>
                </a:solidFill>
                <a:latin typeface="Inter"/>
              </a:rPr>
              <a:t>The penalty term penalizes asymmetric allocation errors proportional to their business cost, shifting selection toward operationally safer forecasts.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8760" y="4043957"/>
            <a:ext cx="2134195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Asymmetric Cost 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8760" y="4277915"/>
            <a:ext cx="5534305" cy="3769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dirty="0">
                <a:solidFill>
                  <a:srgbClr val="A8C0D6"/>
                </a:solidFill>
                <a:latin typeface="Inter"/>
              </a:rPr>
              <a:t>When Cu </a:t>
            </a:r>
            <a:r>
              <a:rPr lang="pt-BR" sz="1080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1080" b="0" i="0" dirty="0">
                <a:solidFill>
                  <a:srgbClr val="A8C0D6"/>
                </a:solidFill>
                <a:latin typeface="Inter"/>
              </a:rPr>
              <a:t> Co, under- and over-forecasting carry different financial consequences. The ratio Cu/Co encodes this asymmetry directly into the score.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8760" y="4797028"/>
            <a:ext cx="2082105" cy="1714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F0F4F8"/>
                </a:solidFill>
                <a:latin typeface="IBM Plex Sans"/>
              </a:rPr>
              <a:t>Decision-Oriented Selection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8760" y="5030985"/>
            <a:ext cx="5375033" cy="35304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 dirty="0">
                <a:solidFill>
                  <a:srgbClr val="A8C0D6"/>
                </a:solidFill>
                <a:latin typeface="Inter"/>
              </a:rPr>
              <a:t>A forecast with slightly higher WMAPE but lower DS is preferred </a:t>
            </a:r>
            <a:r>
              <a:rPr lang="pt-BR" sz="1080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1080" b="0" i="0" dirty="0">
                <a:solidFill>
                  <a:srgbClr val="A8C0D6"/>
                </a:solidFill>
                <a:latin typeface="Inter"/>
              </a:rPr>
              <a:t> it produces better planning decisions with lower operational risk.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0101" y="5958333"/>
            <a:ext cx="38100" cy="381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00" y="0"/>
            <a:ext cx="17145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78872"/>
            <a:ext cx="5943600" cy="876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200" y="857250"/>
            <a:ext cx="171450" cy="19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4200" y="2028378"/>
            <a:ext cx="457200" cy="285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4200" y="5331321"/>
            <a:ext cx="4876800" cy="742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6125" y="5631060"/>
            <a:ext cx="11430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81850" y="793700"/>
            <a:ext cx="79816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00C9B1"/>
                </a:solidFill>
                <a:latin typeface="Inter"/>
              </a:rPr>
              <a:t>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4200" y="1030491"/>
            <a:ext cx="4574660" cy="4816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Brazilian </a:t>
            </a:r>
            <a:r>
              <a:rPr sz="3359" b="1" i="0">
                <a:solidFill>
                  <a:srgbClr val="00C9B1"/>
                </a:solidFill>
                <a:latin typeface="IBM Plex Sans"/>
              </a:rPr>
              <a:t>Automotive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0" y="1499746"/>
            <a:ext cx="1683246" cy="4693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Industry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4725" y="5456932"/>
            <a:ext cx="4501754" cy="48934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F5A623"/>
                </a:solidFill>
                <a:latin typeface="Inter"/>
              </a:rPr>
              <a:t>Research Context:</a:t>
            </a:r>
            <a:r>
              <a:rPr sz="975" b="0" i="0">
                <a:solidFill>
                  <a:srgbClr val="A8C0D6"/>
                </a:solidFill>
                <a:latin typeface="Inter"/>
              </a:rPr>
              <a:t> Real-world industrial dataset used to evaluate the Decision Score artifact against conventional accuracy-based forecast selection methods.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2285553"/>
            <a:ext cx="2381250" cy="1285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1305" y="2447478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9354" y="2546449"/>
            <a:ext cx="126652" cy="1448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3685" y="2466528"/>
            <a:ext cx="522833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C0D6"/>
                </a:solidFill>
                <a:latin typeface="Inter"/>
              </a:rPr>
              <a:t>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3685" y="2658814"/>
            <a:ext cx="941040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F0F4F8"/>
                </a:solidFill>
                <a:latin typeface="IBM Plex Sans"/>
              </a:rPr>
              <a:t>ANFAVEA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3685" y="2929086"/>
            <a:ext cx="1419155" cy="46404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302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8C0D6"/>
                </a:solidFill>
                <a:latin typeface="Inter"/>
              </a:rPr>
              <a:t>Associação Nacional dos Fabricantes de Veículos Automotores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3725" y="2295525"/>
            <a:ext cx="28575" cy="1276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9750" y="2285553"/>
            <a:ext cx="2381250" cy="1285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06855" y="2447478"/>
            <a:ext cx="342900" cy="3429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05975" y="2546449"/>
            <a:ext cx="144660" cy="1448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79235" y="2466528"/>
            <a:ext cx="88909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C0D6"/>
                </a:solidFill>
                <a:latin typeface="Inter"/>
              </a:rPr>
              <a:t>TOTAL 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9235" y="2658814"/>
            <a:ext cx="1078259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F0F4F8"/>
                </a:solidFill>
                <a:latin typeface="IBM Plex Sans"/>
              </a:rPr>
              <a:t>2.86 Million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9235" y="2929086"/>
            <a:ext cx="1662278" cy="2986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302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8C0D6"/>
                </a:solidFill>
                <a:latin typeface="Inter"/>
              </a:rPr>
              <a:t>Vehicles across all powertrain segments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39275" y="2295525"/>
            <a:ext cx="28575" cy="1276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4200" y="3691830"/>
            <a:ext cx="2381250" cy="14859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11305" y="3853755"/>
            <a:ext cx="342900" cy="3429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83685" y="4348757"/>
            <a:ext cx="59055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7665" y="4348757"/>
            <a:ext cx="447675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83685" y="4586733"/>
            <a:ext cx="581025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16205" y="4586733"/>
            <a:ext cx="523875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83685" y="4824710"/>
            <a:ext cx="476250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07560" y="4824710"/>
            <a:ext cx="847725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01346" y="3952726"/>
            <a:ext cx="162817" cy="1448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83685" y="3872805"/>
            <a:ext cx="145419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C0D6"/>
                </a:solidFill>
                <a:latin typeface="Inter"/>
              </a:rPr>
              <a:t>POWERTRAIN SEGMENTS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3685" y="4065091"/>
            <a:ext cx="1200745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F0F4F8"/>
                </a:solidFill>
                <a:latin typeface="IBM Plex Sans"/>
              </a:rPr>
              <a:t>6 Categories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59885" y="4386857"/>
            <a:ext cx="445889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0C9B1"/>
                </a:solidFill>
                <a:latin typeface="Inter"/>
              </a:rPr>
              <a:t>Flex Fuel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3865" y="4386857"/>
            <a:ext cx="303014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0C9B1"/>
                </a:solidFill>
                <a:latin typeface="Inter"/>
              </a:rPr>
              <a:t>Diesel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9885" y="4624833"/>
            <a:ext cx="434429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0C9B1"/>
                </a:solidFill>
                <a:latin typeface="Inter"/>
              </a:rPr>
              <a:t>Gasoline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2405" y="4624833"/>
            <a:ext cx="371623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0C9B1"/>
                </a:solidFill>
                <a:latin typeface="Inter"/>
              </a:rPr>
              <a:t>Electric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59885" y="4862810"/>
            <a:ext cx="325784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0C9B1"/>
                </a:solidFill>
                <a:latin typeface="Inter"/>
              </a:rPr>
              <a:t>Hybrid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760" y="4862810"/>
            <a:ext cx="702766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00C9B1"/>
                </a:solidFill>
                <a:latin typeface="Inter"/>
              </a:rPr>
              <a:t>Plug-in Hybrid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43725" y="3705225"/>
            <a:ext cx="28575" cy="14668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29750" y="3691830"/>
            <a:ext cx="2381250" cy="14859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06855" y="3853755"/>
            <a:ext cx="342900" cy="3429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079235" y="4348757"/>
            <a:ext cx="933450" cy="1905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079235" y="4586733"/>
            <a:ext cx="714375" cy="1905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79235" y="4824710"/>
            <a:ext cx="904875" cy="1905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705975" y="3952726"/>
            <a:ext cx="144660" cy="14480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079235" y="3872805"/>
            <a:ext cx="1401365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C0D6"/>
                </a:solidFill>
                <a:latin typeface="Inter"/>
              </a:rPr>
              <a:t>FORECAST CANDIDATES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79235" y="4065091"/>
            <a:ext cx="1500187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F0F4F8"/>
                </a:solidFill>
                <a:latin typeface="IBM Plex Sans"/>
              </a:rPr>
              <a:t>Multiple Models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55435" y="4386857"/>
            <a:ext cx="782835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4A90D9"/>
                </a:solidFill>
                <a:latin typeface="Inter"/>
              </a:rPr>
              <a:t>Exp. Smoothing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55435" y="4624833"/>
            <a:ext cx="571202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4A90D9"/>
                </a:solidFill>
                <a:latin typeface="Inter"/>
              </a:rPr>
              <a:t>AutoARIMA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55435" y="4862810"/>
            <a:ext cx="754260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4A90D9"/>
                </a:solidFill>
                <a:latin typeface="Inter"/>
              </a:rPr>
              <a:t>Random Forest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439275" y="3705225"/>
            <a:ext cx="28575" cy="14668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28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68194"/>
            <a:ext cx="7326269" cy="4811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Conventional Forecasting </a:t>
            </a:r>
            <a:r>
              <a:rPr sz="3359" b="1" i="0">
                <a:solidFill>
                  <a:srgbClr val="00C9B1"/>
                </a:solidFill>
                <a:latin typeface="IBM Plex Sans"/>
              </a:rPr>
              <a:t>Results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825603"/>
            <a:ext cx="6534150" cy="923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3025526"/>
            <a:ext cx="171450" cy="13721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3633192"/>
            <a:ext cx="137070" cy="13721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240857"/>
            <a:ext cx="119955" cy="13721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5212109"/>
            <a:ext cx="152400" cy="1524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427869"/>
              </p:ext>
            </p:extLst>
          </p:nvPr>
        </p:nvGraphicFramePr>
        <p:xfrm>
          <a:off x="457200" y="2335857"/>
          <a:ext cx="6538018" cy="22764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1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11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0C9B1"/>
                          </a:solidFill>
                          <a:latin typeface="IBM Plex Sans"/>
                        </a:rPr>
                        <a:t>Method</a:t>
                      </a:r>
                    </a:p>
                  </a:txBody>
                  <a:tcPr anchor="ctr">
                    <a:solidFill>
                      <a:srgbClr val="0C23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0C9B1"/>
                          </a:solidFill>
                          <a:latin typeface="IBM Plex Sans"/>
                        </a:rPr>
                        <a:t>WMAPE</a:t>
                      </a:r>
                    </a:p>
                  </a:txBody>
                  <a:tcPr anchor="ctr">
                    <a:solidFill>
                      <a:srgbClr val="0C23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80" b="1" i="0">
                          <a:solidFill>
                            <a:srgbClr val="00C9B1"/>
                          </a:solidFill>
                          <a:latin typeface="IBM Plex Sans"/>
                        </a:rPr>
                        <a:t>Absolute Bias</a:t>
                      </a:r>
                    </a:p>
                  </a:txBody>
                  <a:tcPr anchor="ctr">
                    <a:solidFill>
                      <a:srgbClr val="0C2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1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0" b="0" i="0">
                          <a:solidFill>
                            <a:srgbClr val="F0F4F8"/>
                          </a:solidFill>
                          <a:latin typeface="Inter"/>
                        </a:rPr>
                        <a:t>Exponential Smoothing</a:t>
                      </a:r>
                    </a:p>
                  </a:txBody>
                  <a:tcPr anchor="ctr">
                    <a:lnB w="9525" cmpd="sng">
                      <a:solidFill>
                        <a:srgbClr val="A8C0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0" b="1" i="0">
                          <a:solidFill>
                            <a:srgbClr val="F5A623"/>
                          </a:solidFill>
                          <a:latin typeface="Inter"/>
                        </a:rPr>
                        <a:t>12.6%</a:t>
                      </a:r>
                    </a:p>
                  </a:txBody>
                  <a:tcPr anchor="ctr">
                    <a:lnB w="9525" cmpd="sng">
                      <a:solidFill>
                        <a:srgbClr val="A8C0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0" b="1" i="0">
                          <a:solidFill>
                            <a:srgbClr val="EF8080"/>
                          </a:solidFill>
                          <a:latin typeface="Inter"/>
                        </a:rPr>
                        <a:t>292,299</a:t>
                      </a:r>
                    </a:p>
                  </a:txBody>
                  <a:tcPr anchor="ctr">
                    <a:lnB w="9525" cmpd="sng">
                      <a:solidFill>
                        <a:srgbClr val="A8C0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1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0" b="0" i="0" dirty="0">
                          <a:solidFill>
                            <a:srgbClr val="F0F4F8"/>
                          </a:solidFill>
                          <a:latin typeface="High Tower Text" panose="02040502050506030303" pitchFamily="18" charset="0"/>
                        </a:rPr>
                        <a:t>📈</a:t>
                      </a:r>
                    </a:p>
                  </a:txBody>
                  <a:tcPr anchor="ctr">
                    <a:lnT w="9525" cap="flat" cmpd="sng" algn="ctr">
                      <a:solidFill>
                        <a:srgbClr val="A8C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32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0" b="1" i="0">
                          <a:solidFill>
                            <a:srgbClr val="F5A623"/>
                          </a:solidFill>
                          <a:latin typeface="Inter"/>
                        </a:rPr>
                        <a:t>13.8%</a:t>
                      </a:r>
                    </a:p>
                  </a:txBody>
                  <a:tcPr anchor="ctr">
                    <a:lnT w="9525" cap="flat" cmpd="sng" algn="ctr">
                      <a:solidFill>
                        <a:srgbClr val="A8C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32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0" b="1" i="0">
                          <a:solidFill>
                            <a:srgbClr val="EF8080"/>
                          </a:solidFill>
                          <a:latin typeface="Inter"/>
                        </a:rPr>
                        <a:t>188,224</a:t>
                      </a:r>
                    </a:p>
                  </a:txBody>
                  <a:tcPr anchor="ctr">
                    <a:lnT w="9525" cap="flat" cmpd="sng" algn="ctr">
                      <a:solidFill>
                        <a:srgbClr val="A8C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32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1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0" b="0" i="0">
                          <a:solidFill>
                            <a:srgbClr val="F0F4F8"/>
                          </a:solidFill>
                          <a:latin typeface="Inter"/>
                        </a:rPr>
                        <a:t>Random Forest</a:t>
                      </a:r>
                    </a:p>
                  </a:txBody>
                  <a:tcPr anchor="ctr">
                    <a:lnB w="9525" cmpd="sng">
                      <a:solidFill>
                        <a:srgbClr val="A8C0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0" b="1" i="0">
                          <a:solidFill>
                            <a:srgbClr val="F5A623"/>
                          </a:solidFill>
                          <a:latin typeface="Inter"/>
                        </a:rPr>
                        <a:t>16.3%</a:t>
                      </a:r>
                    </a:p>
                  </a:txBody>
                  <a:tcPr anchor="ctr">
                    <a:lnB w="9525" cmpd="sng">
                      <a:solidFill>
                        <a:srgbClr val="A8C0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60" b="1" i="0" dirty="0">
                          <a:solidFill>
                            <a:srgbClr val="EF8080"/>
                          </a:solidFill>
                          <a:latin typeface="Inter"/>
                        </a:rPr>
                        <a:t>331,426</a:t>
                      </a:r>
                    </a:p>
                  </a:txBody>
                  <a:tcPr anchor="ctr">
                    <a:lnB w="9525" cmpd="sng">
                      <a:solidFill>
                        <a:srgbClr val="A8C0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1955006"/>
            <a:ext cx="3308449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A8C0D6"/>
                </a:solidFill>
                <a:latin typeface="Inter"/>
              </a:rPr>
              <a:t>BENCHMARK METHODS — ANFAVEA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4981723"/>
            <a:ext cx="6096062" cy="5962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5A623"/>
                </a:solidFill>
                <a:latin typeface="Inter"/>
              </a:rPr>
              <a:t>Observation:</a:t>
            </a:r>
            <a:r>
              <a:rPr sz="1139" b="0" i="0">
                <a:solidFill>
                  <a:srgbClr val="A8C0D6"/>
                </a:solidFill>
                <a:latin typeface="Inter"/>
              </a:rPr>
              <a:t> Traditional approaches generated substantially higher operational imbalance— absolute bias values exceed 188K units, indicating significant allocation distortion across all methods.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19257" y="1076920"/>
            <a:ext cx="1472505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C9B1"/>
                </a:solidFill>
                <a:latin typeface="IBM Plex Sans"/>
              </a:rPr>
              <a:t>VISUAL COMPARISON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6219" y="1377999"/>
            <a:ext cx="4352925" cy="52482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4457" y="6368801"/>
            <a:ext cx="95250" cy="95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5630" y="6368801"/>
            <a:ext cx="95250" cy="95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70577" y="6346328"/>
            <a:ext cx="666452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A8C0D6"/>
                </a:solidFill>
                <a:latin typeface="Inter"/>
              </a:rPr>
              <a:t>WMAPE (%)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1750" y="6346328"/>
            <a:ext cx="874662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A8C0D6"/>
                </a:solidFill>
                <a:latin typeface="Inter"/>
              </a:rPr>
              <a:t>Abs. Bias (×10k)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538144" y="1539924"/>
          <a:ext cx="4029075" cy="4695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57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7684"/>
            <a:ext cx="8669115" cy="4693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WMAPE Optimization </a:t>
            </a:r>
            <a:r>
              <a:rPr sz="3359" b="0" i="0">
                <a:solidFill>
                  <a:srgbClr val="A8C0D6"/>
                </a:solidFill>
                <a:latin typeface="IBM Plex Sans"/>
              </a:rPr>
              <a:t>vs.</a:t>
            </a:r>
            <a:r>
              <a:rPr sz="3359" b="1" i="0">
                <a:solidFill>
                  <a:srgbClr val="00C9B1"/>
                </a:solidFill>
                <a:latin typeface="IBM Plex Sans"/>
              </a:rPr>
              <a:t> Decision Score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4074318"/>
            <a:ext cx="114300" cy="114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5458" y="4074318"/>
            <a:ext cx="114300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5517" y="4074318"/>
            <a:ext cx="114300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926133"/>
            <a:ext cx="121890" cy="12189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381398"/>
            <a:ext cx="152400" cy="12189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836664"/>
            <a:ext cx="121890" cy="12189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291929"/>
            <a:ext cx="91529" cy="12189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043025"/>
              </p:ext>
            </p:extLst>
          </p:nvPr>
        </p:nvGraphicFramePr>
        <p:xfrm>
          <a:off x="457200" y="1366837"/>
          <a:ext cx="5524499" cy="22103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07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07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1" i="0">
                          <a:solidFill>
                            <a:srgbClr val="A8C0D6"/>
                          </a:solidFill>
                          <a:latin typeface="IBM Plex Sans"/>
                        </a:rPr>
                        <a:t>Metric</a:t>
                      </a:r>
                    </a:p>
                  </a:txBody>
                  <a:tcPr anchor="ctr">
                    <a:lnB w="19050" cmpd="sng">
                      <a:solidFill>
                        <a:srgbClr val="00C9B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1" i="0">
                          <a:solidFill>
                            <a:srgbClr val="4A90D9"/>
                          </a:solidFill>
                          <a:latin typeface="IBM Plex Sans"/>
                        </a:rPr>
                        <a:t>WMAPE Optimization</a:t>
                      </a:r>
                    </a:p>
                  </a:txBody>
                  <a:tcPr anchor="ctr">
                    <a:solidFill>
                      <a:srgbClr val="1124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84" b="1" i="0">
                          <a:solidFill>
                            <a:srgbClr val="00C9B1"/>
                          </a:solidFill>
                          <a:latin typeface="IBM Plex Sans"/>
                        </a:rPr>
                        <a:t>Decision Score</a:t>
                      </a:r>
                    </a:p>
                  </a:txBody>
                  <a:tcPr anchor="ctr">
                    <a:solidFill>
                      <a:srgbClr val="0B28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079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pt-BR" sz="1800" b="1" i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WMAPE</a:t>
                      </a:r>
                      <a:endParaRPr sz="1056" b="1" i="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00C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4A90D9"/>
                          </a:solidFill>
                          <a:latin typeface="Inter"/>
                        </a:rPr>
                        <a:t>8.06%</a:t>
                      </a:r>
                    </a:p>
                  </a:txBody>
                  <a:tcPr anchor="ctr">
                    <a:solidFill>
                      <a:srgbClr val="10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F5A623"/>
                          </a:solidFill>
                          <a:latin typeface="Inter"/>
                        </a:rPr>
                        <a:t>8.21% +0.15pp</a:t>
                      </a:r>
                    </a:p>
                  </a:txBody>
                  <a:tcPr anchor="ctr">
                    <a:solidFill>
                      <a:srgbClr val="0C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079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pt-BR" sz="1800" b="1" i="0" kern="1200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 Bias</a:t>
                      </a:r>
                      <a:endParaRPr sz="1056" b="1" i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132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4A90D9"/>
                          </a:solidFill>
                          <a:latin typeface="Microsoft YaHei"/>
                        </a:rPr>
                        <a:t>−27,573</a:t>
                      </a:r>
                    </a:p>
                  </a:txBody>
                  <a:tcPr anchor="ctr">
                    <a:solidFill>
                      <a:srgbClr val="10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C9B1"/>
                          </a:solidFill>
                          <a:latin typeface="Microsoft YaHei"/>
                        </a:rPr>
                        <a:t>−12,309 −55.4%</a:t>
                      </a:r>
                    </a:p>
                  </a:txBody>
                  <a:tcPr anchor="ctr">
                    <a:solidFill>
                      <a:srgbClr val="0C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079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pt-BR" sz="18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Absolute Bias</a:t>
                      </a:r>
                      <a:endParaRPr sz="1056" b="1" i="0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4A90D9"/>
                          </a:solidFill>
                          <a:latin typeface="Inter"/>
                        </a:rPr>
                        <a:t>36,587</a:t>
                      </a:r>
                    </a:p>
                  </a:txBody>
                  <a:tcPr anchor="ctr">
                    <a:solidFill>
                      <a:srgbClr val="10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00C9B1"/>
                          </a:solidFill>
                          <a:latin typeface="Microsoft YaHei"/>
                        </a:rPr>
                        <a:t>24,115 −34.1%</a:t>
                      </a:r>
                    </a:p>
                  </a:txBody>
                  <a:tcPr anchor="ctr">
                    <a:solidFill>
                      <a:srgbClr val="0C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079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pt-BR" sz="1800" b="1" i="0" kern="1200" dirty="0">
                          <a:solidFill>
                            <a:schemeClr val="accent5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Bias %</a:t>
                      </a:r>
                      <a:endParaRPr sz="1056" b="1" i="0" dirty="0">
                        <a:solidFill>
                          <a:schemeClr val="accent5"/>
                        </a:solidFill>
                        <a:latin typeface="Inter"/>
                      </a:endParaRPr>
                    </a:p>
                  </a:txBody>
                  <a:tcPr anchor="ctr">
                    <a:solidFill>
                      <a:srgbClr val="132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>
                          <a:solidFill>
                            <a:srgbClr val="4A90D9"/>
                          </a:solidFill>
                          <a:latin typeface="Microsoft YaHei"/>
                        </a:rPr>
                        <a:t>−0.96%</a:t>
                      </a:r>
                    </a:p>
                  </a:txBody>
                  <a:tcPr anchor="ctr">
                    <a:solidFill>
                      <a:srgbClr val="1020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39" b="1" i="0" dirty="0">
                          <a:solidFill>
                            <a:srgbClr val="00C9B1"/>
                          </a:solidFill>
                          <a:latin typeface="Microsoft YaHei"/>
                        </a:rPr>
                        <a:t>−0.43% −55.2%</a:t>
                      </a:r>
                    </a:p>
                  </a:txBody>
                  <a:tcPr anchor="ctr">
                    <a:solidFill>
                      <a:srgbClr val="0C25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1091951"/>
            <a:ext cx="3170932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 dirty="0">
                <a:solidFill>
                  <a:srgbClr val="A8C0D6"/>
                </a:solidFill>
                <a:latin typeface="IBM Plex Sans"/>
              </a:rPr>
              <a:t>SIDE-BY-SIDE METRIC COMPARISON — ANFAVEA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" y="3725763"/>
            <a:ext cx="5314057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A8C0D6"/>
                </a:solidFill>
                <a:latin typeface="Inter"/>
              </a:rPr>
              <a:t>Lower Absolute Bias and Bias % indicate reduced allocation distortion and improved operational balance.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60" y="4064793"/>
            <a:ext cx="1098798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C0D6"/>
                </a:solidFill>
                <a:latin typeface="Inter"/>
              </a:rPr>
              <a:t>WMAPE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8219" y="4064793"/>
            <a:ext cx="768697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C0D6"/>
                </a:solidFill>
                <a:latin typeface="Inter"/>
              </a:rPr>
              <a:t>Decision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8278" y="4064793"/>
            <a:ext cx="667047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C0D6"/>
                </a:solidFill>
                <a:latin typeface="Inter"/>
              </a:rPr>
              <a:t>Improvement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3968948"/>
            <a:ext cx="2695575" cy="11525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7290" y="3968948"/>
            <a:ext cx="2695575" cy="11525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5282058"/>
            <a:ext cx="5524500" cy="7715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7405" y="4149923"/>
            <a:ext cx="79920" cy="106709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14395" y="4149923"/>
            <a:ext cx="106560" cy="106709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7405" y="5592216"/>
            <a:ext cx="1143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13016" y="4149923"/>
            <a:ext cx="1160412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A8C0D6"/>
                </a:solidFill>
                <a:latin typeface="Inter"/>
              </a:rPr>
              <a:t>NET BIAS REDUCTION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7405" y="4334648"/>
            <a:ext cx="989855" cy="28955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2279" b="1" i="0">
                <a:solidFill>
                  <a:srgbClr val="00C9B1"/>
                </a:solidFill>
                <a:latin typeface="IBM Plex Sans"/>
              </a:rPr>
              <a:t>−55.4%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7405" y="4681388"/>
            <a:ext cx="2361422" cy="2952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dirty="0">
                <a:solidFill>
                  <a:srgbClr val="A8C0D6"/>
                </a:solidFill>
              </a:rPr>
              <a:t>From −27,573 to −12,309 units — significantly less systematic under-allocation.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6646" y="4149923"/>
            <a:ext cx="1053703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A8C0D6"/>
                </a:solidFill>
                <a:latin typeface="Inter"/>
              </a:rPr>
              <a:t>WMAPE TRADE-OFF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4395" y="4334648"/>
            <a:ext cx="1086147" cy="28955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2279" b="1" i="0">
                <a:solidFill>
                  <a:srgbClr val="F5A623"/>
                </a:solidFill>
                <a:latin typeface="IBM Plex Sans"/>
              </a:rPr>
              <a:t>+0.15pp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4395" y="4681388"/>
            <a:ext cx="2411396" cy="2706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 dirty="0">
                <a:solidFill>
                  <a:srgbClr val="A8C0D6"/>
                </a:solidFill>
              </a:rPr>
              <a:t>8.06% → 8.21% — negligible accuracy cost for substantial operational gain.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6005" y="5415408"/>
            <a:ext cx="5048679" cy="4929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0F4F8"/>
                </a:solidFill>
                <a:latin typeface="Inter"/>
              </a:rPr>
              <a:t>Operational quality improved without sacrificing statistical accuracy.</a:t>
            </a:r>
            <a:r>
              <a:rPr sz="984" b="0" i="0">
                <a:solidFill>
                  <a:srgbClr val="A8C0D6"/>
                </a:solidFill>
                <a:latin typeface="Inter"/>
              </a:rPr>
              <a:t> The Decision Score selects a forecast that is nearly as accurate but far less distorting in planning outcomes.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1662856"/>
            <a:ext cx="5524500" cy="21526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92180" y="1904702"/>
            <a:ext cx="119955" cy="1067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73006" y="1904702"/>
            <a:ext cx="684907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5A623"/>
                </a:solidFill>
                <a:latin typeface="IBM Plex Sans"/>
              </a:rPr>
              <a:t>KEY FINDING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180" y="2102703"/>
            <a:ext cx="2578019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5761"/>
              </a:lnSpc>
              <a:spcBef>
                <a:spcPts val="0"/>
              </a:spcBef>
              <a:spcAft>
                <a:spcPts val="0"/>
              </a:spcAft>
            </a:pPr>
            <a:r>
              <a:rPr sz="5759" b="1" i="0">
                <a:solidFill>
                  <a:srgbClr val="F5A623"/>
                </a:solidFill>
                <a:latin typeface="IBM Plex Sans"/>
              </a:rPr>
              <a:t>−34.1</a:t>
            </a:r>
            <a:r>
              <a:rPr sz="2400" b="1" i="0">
                <a:solidFill>
                  <a:srgbClr val="F5A623">
                    <a:alpha val="70000"/>
                  </a:srgbClr>
                </a:solidFill>
                <a:latin typeface="IBM Plex Sans"/>
              </a:rPr>
              <a:t>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180" y="2919858"/>
            <a:ext cx="1757213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F4F8"/>
                </a:solidFill>
                <a:latin typeface="IBM Plex Sans"/>
              </a:rPr>
              <a:t>Reduction in Absolute Bias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180" y="3215133"/>
            <a:ext cx="5195527" cy="38117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6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C0D6"/>
                </a:solidFill>
                <a:latin typeface="Inter"/>
              </a:rPr>
              <a:t>Decision Score reduces allocation distortion from </a:t>
            </a:r>
            <a:r>
              <a:rPr sz="1080" b="1" i="0">
                <a:solidFill>
                  <a:srgbClr val="F0F4F8"/>
                </a:solidFill>
                <a:latin typeface="Inter"/>
              </a:rPr>
              <a:t>36,587 </a:t>
            </a:r>
            <a:r>
              <a:rPr sz="1080" b="1" i="0">
                <a:solidFill>
                  <a:srgbClr val="F0F4F8"/>
                </a:solidFill>
                <a:latin typeface="Cambria Math"/>
              </a:rPr>
              <a:t>→ </a:t>
            </a:r>
            <a:r>
              <a:rPr sz="1080" b="1" i="0">
                <a:solidFill>
                  <a:srgbClr val="F0F4F8"/>
                </a:solidFill>
                <a:latin typeface="Inter"/>
              </a:rPr>
              <a:t>24,115</a:t>
            </a:r>
            <a:r>
              <a:rPr sz="1080" b="0" i="0">
                <a:solidFill>
                  <a:srgbClr val="A8C0D6"/>
                </a:solidFill>
                <a:latin typeface="Inter"/>
              </a:rPr>
              <a:t> units, at a cost of only </a:t>
            </a:r>
            <a:r>
              <a:rPr sz="1080" b="1" i="0">
                <a:solidFill>
                  <a:srgbClr val="F0F4F8"/>
                </a:solidFill>
                <a:latin typeface="Inter"/>
              </a:rPr>
              <a:t>+0.15 percentage points</a:t>
            </a:r>
            <a:r>
              <a:rPr sz="1080" b="0" i="0">
                <a:solidFill>
                  <a:srgbClr val="A8C0D6"/>
                </a:solidFill>
                <a:latin typeface="Inter"/>
              </a:rPr>
              <a:t> in WMAPE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0"/>
            <a:ext cx="2286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3000"/>
            <a:ext cx="1905000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897880"/>
            <a:ext cx="457200" cy="38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60604"/>
            <a:ext cx="4717851" cy="4693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Why Does This Matter?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678834"/>
            <a:ext cx="11277600" cy="942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5963542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1733" y="5825430"/>
            <a:ext cx="1152525" cy="657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0970" y="6070252"/>
            <a:ext cx="125759" cy="1675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6825" y="5939879"/>
            <a:ext cx="944314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C9B1"/>
                </a:solidFill>
                <a:latin typeface="Inter"/>
              </a:rPr>
              <a:t>MAIN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6825" y="6166544"/>
            <a:ext cx="5857496" cy="24928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0F4F8"/>
                </a:solidFill>
                <a:latin typeface="IBM Plex Sans"/>
              </a:rPr>
              <a:t>The most </a:t>
            </a:r>
            <a:r>
              <a:rPr sz="1512" b="1" i="0">
                <a:solidFill>
                  <a:srgbClr val="F5A623"/>
                </a:solidFill>
                <a:latin typeface="IBM Plex Sans"/>
              </a:rPr>
              <a:t>accurate</a:t>
            </a:r>
            <a:r>
              <a:rPr sz="1512" b="1" i="0">
                <a:solidFill>
                  <a:srgbClr val="F0F4F8"/>
                </a:solidFill>
                <a:latin typeface="IBM Plex Sans"/>
              </a:rPr>
              <a:t> forecast was not the most </a:t>
            </a:r>
            <a:r>
              <a:rPr sz="1512" b="1" i="0">
                <a:solidFill>
                  <a:srgbClr val="F5A623"/>
                </a:solidFill>
                <a:latin typeface="IBM Plex Sans"/>
              </a:rPr>
              <a:t>useful</a:t>
            </a:r>
            <a:r>
              <a:rPr sz="1512" b="1" i="0">
                <a:solidFill>
                  <a:srgbClr val="F0F4F8"/>
                </a:solidFill>
                <a:latin typeface="IBM Plex Sans"/>
              </a:rPr>
              <a:t> forecast.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87025" y="5905821"/>
            <a:ext cx="786258" cy="2773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2184" b="1" i="0">
                <a:solidFill>
                  <a:srgbClr val="F5A623"/>
                </a:solidFill>
                <a:latin typeface="IBM Plex Sans"/>
              </a:rPr>
              <a:t>34.1%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3658" y="6230391"/>
            <a:ext cx="83299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A8C0D6"/>
                </a:solidFill>
                <a:latin typeface="Inter"/>
              </a:rPr>
              <a:t>Bias Reduction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1212205"/>
            <a:ext cx="5181600" cy="4305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725" y="1221730"/>
            <a:ext cx="5162550" cy="666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325" y="1374130"/>
            <a:ext cx="335160" cy="33516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" y="2232421"/>
            <a:ext cx="4781550" cy="6667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" y="2990850"/>
            <a:ext cx="4781550" cy="666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" y="3749278"/>
            <a:ext cx="4781550" cy="666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" y="4507706"/>
            <a:ext cx="4781550" cy="666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4295" y="1473100"/>
            <a:ext cx="137070" cy="137219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051" y="2365623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051" y="3124051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051" y="3882479"/>
            <a:ext cx="1524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051" y="4640907"/>
            <a:ext cx="15240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4785" y="1419671"/>
            <a:ext cx="2168128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F0F4F8"/>
                </a:solidFill>
                <a:latin typeface="IBM Plex Sans"/>
              </a:rPr>
              <a:t>WMAPE Optimization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9931" y="2350442"/>
            <a:ext cx="4125144" cy="4250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F0F4F8"/>
                </a:solidFill>
                <a:latin typeface="Inter"/>
              </a:rPr>
              <a:t>Best statistical accuracy </a:t>
            </a:r>
            <a:r>
              <a:rPr lang="pt-BR" sz="1320" b="1" i="0" dirty="0">
                <a:solidFill>
                  <a:srgbClr val="F0F4F8"/>
                </a:solidFill>
                <a:latin typeface="Inter"/>
              </a:rPr>
              <a:t>-</a:t>
            </a:r>
            <a:r>
              <a:rPr sz="1320" b="1" i="0" dirty="0">
                <a:solidFill>
                  <a:srgbClr val="F0F4F8"/>
                </a:solidFill>
                <a:latin typeface="Inter"/>
              </a:rPr>
              <a:t> lowest WMAPE score achieved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9931" y="3108870"/>
            <a:ext cx="3558420" cy="4250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0F4F8"/>
                </a:solidFill>
                <a:latin typeface="Inter"/>
              </a:rPr>
              <a:t>Higher operational imbalance in allocation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9931" y="3867298"/>
            <a:ext cx="3722290" cy="4250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0F4F8"/>
                </a:solidFill>
                <a:latin typeface="Inter"/>
              </a:rPr>
              <a:t>Accuracy-first selection ignores asymmetric business costs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9931" y="4625726"/>
            <a:ext cx="4111194" cy="4250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0F4F8"/>
                </a:solidFill>
                <a:latin typeface="Inter"/>
              </a:rPr>
              <a:t>Leads to suboptimal S&amp;OP planning decisions in practice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1212205"/>
            <a:ext cx="5181600" cy="43053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2725" y="1221730"/>
            <a:ext cx="5162550" cy="6667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91325" y="1374130"/>
            <a:ext cx="335160" cy="33516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3225" y="2232421"/>
            <a:ext cx="4781550" cy="6667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3225" y="2990850"/>
            <a:ext cx="4781550" cy="6667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3225" y="3749278"/>
            <a:ext cx="4781550" cy="6667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3225" y="4507706"/>
            <a:ext cx="4781550" cy="6667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90295" y="1473100"/>
            <a:ext cx="137070" cy="137219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4051" y="2365623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4051" y="3124051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4051" y="3882479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4051" y="4640907"/>
            <a:ext cx="152400" cy="152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240785" y="1419671"/>
            <a:ext cx="1540966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F0F4F8"/>
                </a:solidFill>
                <a:latin typeface="IBM Plex Sans"/>
              </a:rPr>
              <a:t>Decision Score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15931" y="2350442"/>
            <a:ext cx="4187381" cy="4250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F0F4F8"/>
                </a:solidFill>
                <a:latin typeface="Inter"/>
              </a:rPr>
              <a:t>Nearly identical accuracy </a:t>
            </a:r>
            <a:r>
              <a:rPr lang="pt-BR" sz="1320" b="1" i="0" dirty="0">
                <a:solidFill>
                  <a:srgbClr val="F0F4F8"/>
                </a:solidFill>
                <a:latin typeface="Inter"/>
              </a:rPr>
              <a:t>-</a:t>
            </a:r>
            <a:r>
              <a:rPr sz="1320" b="1" i="0" dirty="0">
                <a:solidFill>
                  <a:srgbClr val="F0F4F8"/>
                </a:solidFill>
                <a:latin typeface="Inter"/>
              </a:rPr>
              <a:t> only +0.15pp WMAPE difference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5931" y="3108870"/>
            <a:ext cx="4038074" cy="4250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F0F4F8"/>
                </a:solidFill>
                <a:latin typeface="Inter"/>
              </a:rPr>
              <a:t>34.1% reduction in absolute bias </a:t>
            </a:r>
            <a:r>
              <a:rPr lang="pt-BR" sz="1320" b="1" i="0" dirty="0">
                <a:solidFill>
                  <a:srgbClr val="F0F4F8"/>
                </a:solidFill>
                <a:latin typeface="Inter"/>
              </a:rPr>
              <a:t>-</a:t>
            </a:r>
            <a:r>
              <a:rPr sz="1320" b="1" i="0" dirty="0">
                <a:solidFill>
                  <a:srgbClr val="F0F4F8"/>
                </a:solidFill>
                <a:latin typeface="Inter"/>
              </a:rPr>
              <a:t> significantly lower distortion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15931" y="3867298"/>
            <a:ext cx="3433946" cy="4250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0F4F8"/>
                </a:solidFill>
                <a:latin typeface="Inter"/>
              </a:rPr>
              <a:t>Decision-oriented selection incorporates operational consequences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15931" y="4625726"/>
            <a:ext cx="3689792" cy="42505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0F4F8"/>
                </a:solidFill>
                <a:latin typeface="Inter"/>
              </a:rPr>
              <a:t>Delivers substantially better S&amp;OP planning outcomes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38800" y="2905125"/>
            <a:ext cx="914400" cy="914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009530" y="3291185"/>
            <a:ext cx="172789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4A90D9"/>
                </a:solidFill>
                <a:latin typeface="IBM Plex Sans"/>
              </a:rPr>
              <a:t>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3048000" cy="2857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29000"/>
            <a:ext cx="2286000" cy="2857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880616"/>
            <a:ext cx="571500" cy="28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29064"/>
            <a:ext cx="4494028" cy="5392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Statistical </a:t>
            </a:r>
            <a:r>
              <a:rPr sz="3359" b="1" i="0">
                <a:solidFill>
                  <a:srgbClr val="00C9B1"/>
                </a:solidFill>
                <a:latin typeface="IBM Plex Sans"/>
              </a:rPr>
              <a:t>Validation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887217"/>
            <a:ext cx="11277600" cy="638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5035599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8725" y="5033813"/>
            <a:ext cx="76839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C9B1"/>
                </a:solidFill>
                <a:latin typeface="Inter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8725" y="5189934"/>
            <a:ext cx="9886205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0F4F8"/>
                </a:solidFill>
                <a:latin typeface="IBM Plex Sans"/>
              </a:rPr>
              <a:t>The reduction in absolute bias achieved by the Decision Score is statistically significant and robust across all validation methods.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240160"/>
            <a:ext cx="3629025" cy="2486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8401" y="2583060"/>
            <a:ext cx="67627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30178" y="2630685"/>
            <a:ext cx="412551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4ADE80"/>
                </a:solidFill>
                <a:latin typeface="Inter"/>
              </a:rPr>
              <a:t>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3043880"/>
            <a:ext cx="1555253" cy="4023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00C9B1"/>
                </a:solidFill>
                <a:latin typeface="IBM Plex Sans"/>
              </a:rPr>
              <a:t>p = 0.031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3482429"/>
            <a:ext cx="38963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5A623"/>
                </a:solidFill>
                <a:latin typeface="Inter"/>
              </a:rPr>
              <a:t>W =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3724275"/>
            <a:ext cx="1994148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F4F8"/>
                </a:solidFill>
                <a:latin typeface="IBM Plex Sans"/>
              </a:rPr>
              <a:t>Wilcoxon Signed-Rank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3975645"/>
            <a:ext cx="3283872" cy="51821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C0D6"/>
                </a:solidFill>
                <a:latin typeface="Inter"/>
              </a:rPr>
              <a:t>Significant at </a:t>
            </a:r>
            <a:r>
              <a:rPr sz="1019" b="0" i="0">
                <a:solidFill>
                  <a:srgbClr val="A8C0D6"/>
                </a:solidFill>
                <a:latin typeface="Cambria Math"/>
              </a:rPr>
              <a:t>α </a:t>
            </a:r>
            <a:r>
              <a:rPr sz="1019" b="0" i="0">
                <a:solidFill>
                  <a:srgbClr val="A8C0D6"/>
                </a:solidFill>
                <a:latin typeface="Inter"/>
              </a:rPr>
              <a:t>= 0.05 level. Confirms the bias reduction between WMAPE Optimization and Decision Score is not due to chance.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725" y="2247900"/>
            <a:ext cx="3619500" cy="285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9850" y="2240160"/>
            <a:ext cx="3629025" cy="2486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3525" y="2583060"/>
            <a:ext cx="65722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75301" y="2630685"/>
            <a:ext cx="390078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4ADE80"/>
                </a:solidFill>
                <a:latin typeface="Inter"/>
              </a:rPr>
              <a:t>LARGE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975" y="3043880"/>
            <a:ext cx="1351805" cy="4023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00C9B1"/>
                </a:solidFill>
                <a:latin typeface="IBM Plex Sans"/>
              </a:rPr>
              <a:t>d = 1.98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975" y="3482429"/>
            <a:ext cx="672405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5A623"/>
                </a:solidFill>
                <a:latin typeface="Inter"/>
              </a:rPr>
              <a:t>COHEN'S 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975" y="3724275"/>
            <a:ext cx="770780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F4F8"/>
                </a:solidFill>
                <a:latin typeface="IBM Plex Sans"/>
              </a:rPr>
              <a:t>Effect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975" y="3975645"/>
            <a:ext cx="3175341" cy="56053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C0D6"/>
                </a:solidFill>
                <a:latin typeface="Inter"/>
              </a:rPr>
              <a:t>Indicates a large practical effect. The Decision Score improvement is not only statistically significant but operationally substantial.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6250" y="2247900"/>
            <a:ext cx="3619500" cy="285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2500" y="2240160"/>
            <a:ext cx="3629025" cy="24860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19171" y="2583060"/>
            <a:ext cx="971550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680948" y="2630685"/>
            <a:ext cx="707231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4ADE80"/>
                </a:solidFill>
                <a:latin typeface="Inter"/>
              </a:rPr>
              <a:t>CONSISTENT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0625" y="3043880"/>
            <a:ext cx="467320" cy="4023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879" b="1" i="0">
                <a:solidFill>
                  <a:srgbClr val="00C9B1"/>
                </a:solidFill>
                <a:latin typeface="IBM Plex Sans"/>
              </a:rPr>
              <a:t>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0625" y="3482429"/>
            <a:ext cx="1246286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5A623"/>
                </a:solidFill>
                <a:latin typeface="Inter"/>
              </a:rPr>
              <a:t>VEHICLE SEGMENTS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0625" y="3724275"/>
            <a:ext cx="1273224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F4F8"/>
                </a:solidFill>
                <a:latin typeface="IBM Plex Sans"/>
              </a:rPr>
              <a:t>Quantile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0625" y="3975645"/>
            <a:ext cx="3283719" cy="51821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C0D6"/>
                </a:solidFill>
                <a:latin typeface="Inter"/>
              </a:rPr>
              <a:t>Improvement is consistent across all vehicle segments (Flex, Diesel, Electric, Hybrid). Results are not driven by outliers.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5300" y="2247900"/>
            <a:ext cx="36195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1487834"/>
            <a:ext cx="4572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1849784"/>
            <a:ext cx="3314700" cy="1876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2050" y="2002184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3879651"/>
            <a:ext cx="3314700" cy="1390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2050" y="4032051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0" y="5425231"/>
            <a:ext cx="3314700" cy="143276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5840" y="2085975"/>
            <a:ext cx="137070" cy="13721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82955" y="4115841"/>
            <a:ext cx="102840" cy="13721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53475" y="5596681"/>
            <a:ext cx="167580" cy="1675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72500" y="0"/>
            <a:ext cx="2655689" cy="453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Sensitivity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0" y="468362"/>
            <a:ext cx="2614350" cy="9669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Cost 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2100" y="2070645"/>
            <a:ext cx="538162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C9B1"/>
                </a:solidFill>
                <a:latin typeface="Inter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2050" y="2392709"/>
            <a:ext cx="3065982" cy="11400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 dirty="0">
                <a:solidFill>
                  <a:srgbClr val="F0F4F8"/>
                </a:solidFill>
                <a:latin typeface="Inter"/>
              </a:rPr>
              <a:t>Directional bias remained </a:t>
            </a:r>
            <a:r>
              <a:rPr sz="1230" b="1" i="0" dirty="0">
                <a:solidFill>
                  <a:srgbClr val="00C9B1"/>
                </a:solidFill>
                <a:latin typeface="Inter"/>
              </a:rPr>
              <a:t>stable</a:t>
            </a:r>
            <a:r>
              <a:rPr sz="1230" b="0" i="0" dirty="0">
                <a:solidFill>
                  <a:srgbClr val="F0F4F8"/>
                </a:solidFill>
                <a:latin typeface="Inter"/>
              </a:rPr>
              <a:t> under all tested penalty assumptions </a:t>
            </a:r>
            <a:r>
              <a:rPr lang="pt-BR" sz="1230" b="0" i="0" dirty="0">
                <a:solidFill>
                  <a:srgbClr val="F0F4F8"/>
                </a:solidFill>
                <a:latin typeface="Inter"/>
              </a:rPr>
              <a:t>-</a:t>
            </a:r>
            <a:r>
              <a:rPr sz="1230" b="0" i="0" dirty="0">
                <a:solidFill>
                  <a:srgbClr val="F0F4F8"/>
                </a:solidFill>
                <a:latin typeface="Inter"/>
              </a:rPr>
              <a:t> the Decision Score consistently selected lower-bias forecasts regardless of cost ratio.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2100" y="4100512"/>
            <a:ext cx="1182885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5A623"/>
                </a:solidFill>
                <a:latin typeface="Inter"/>
              </a:rP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2050" y="4422576"/>
            <a:ext cx="3069661" cy="7251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0F4F8"/>
                </a:solidFill>
                <a:latin typeface="Inter"/>
              </a:rPr>
              <a:t>The artifact's behavior is </a:t>
            </a:r>
            <a:r>
              <a:rPr sz="1230" b="1" i="0">
                <a:solidFill>
                  <a:srgbClr val="F5A623"/>
                </a:solidFill>
                <a:latin typeface="Inter"/>
              </a:rPr>
              <a:t>robust</a:t>
            </a:r>
            <a:r>
              <a:rPr sz="1230" b="0" i="0">
                <a:solidFill>
                  <a:srgbClr val="F0F4F8"/>
                </a:solidFill>
                <a:latin typeface="Inter"/>
              </a:rPr>
              <a:t> and does not depend on a single parameter configuration of Cu or Co values.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5355" y="5606206"/>
            <a:ext cx="2669781" cy="10822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F0F4F8"/>
                </a:solidFill>
                <a:latin typeface="Inter"/>
              </a:rPr>
              <a:t>Generalizable:</a:t>
            </a:r>
            <a:r>
              <a:rPr sz="1170" b="0" i="0">
                <a:solidFill>
                  <a:srgbClr val="A8C0D6"/>
                </a:solidFill>
                <a:latin typeface="Inter"/>
              </a:rPr>
              <a:t> The Decision Score framework applies across diverse cost structures, making it suitable for different S&amp;OP environments and industry contexts.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0" y="0"/>
            <a:ext cx="2286000" cy="2095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500" y="4572000"/>
            <a:ext cx="1905000" cy="1905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2900" y="285750"/>
            <a:ext cx="1548854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C9B1"/>
                </a:solidFill>
                <a:latin typeface="Inter"/>
              </a:rPr>
              <a:t>SENSITIVITY ANALYSIS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900" y="567779"/>
            <a:ext cx="7810500" cy="6057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825" y="6196012"/>
            <a:ext cx="7448550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4825" y="6326981"/>
            <a:ext cx="95250" cy="952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33067" y="6326981"/>
            <a:ext cx="95250" cy="952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18943" y="6326981"/>
            <a:ext cx="95250" cy="95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4825" y="796379"/>
            <a:ext cx="4038748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F0F4F8"/>
                </a:solidFill>
                <a:latin typeface="IBM Plex Sans"/>
              </a:rPr>
              <a:t>Decision Score Stability Across Cu × Co Cost Ratios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825" y="1067841"/>
            <a:ext cx="679400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C0D6"/>
                </a:solidFill>
                <a:latin typeface="Inter"/>
              </a:rPr>
              <a:t>Absolute Bias selected by Decision Score under varying shortage (Cu) and excess inventory (Co) penalty assumptions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" y="6300787"/>
            <a:ext cx="177581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dirty="0">
                <a:solidFill>
                  <a:srgbClr val="A8C0D6"/>
                </a:solidFill>
                <a:latin typeface="Inter"/>
              </a:rPr>
              <a:t>Decision Score </a:t>
            </a:r>
            <a:r>
              <a:rPr lang="pt-BR" sz="975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975" b="0" i="0" dirty="0">
                <a:solidFill>
                  <a:srgbClr val="A8C0D6"/>
                </a:solidFill>
                <a:latin typeface="Inter"/>
              </a:rPr>
              <a:t> Absolute Bias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4992" y="6300787"/>
            <a:ext cx="213345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dirty="0">
                <a:solidFill>
                  <a:srgbClr val="A8C0D6"/>
                </a:solidFill>
                <a:latin typeface="Inter"/>
              </a:rPr>
              <a:t>WMAPE Optimization </a:t>
            </a:r>
            <a:r>
              <a:rPr lang="pt-BR" sz="975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975" b="0" i="0" dirty="0">
                <a:solidFill>
                  <a:srgbClr val="A8C0D6"/>
                </a:solidFill>
                <a:latin typeface="Inter"/>
              </a:rPr>
              <a:t> Absolute Bias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0868" y="6300787"/>
            <a:ext cx="75723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A8C0D6"/>
                </a:solidFill>
                <a:latin typeface="Inter"/>
              </a:rPr>
              <a:t>Stability Band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04825" y="1376362"/>
          <a:ext cx="744855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4381500"/>
            <a:ext cx="2476500" cy="2476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62000"/>
            <a:ext cx="1524000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629150" cy="38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285750"/>
            <a:ext cx="323850" cy="323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850" y="207174"/>
            <a:ext cx="5902225" cy="4693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Contributions &amp; Conclusions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994767"/>
            <a:ext cx="3733800" cy="1209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6421" y="994767"/>
            <a:ext cx="3733800" cy="12096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1991" y="994767"/>
            <a:ext cx="3733800" cy="12096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563117"/>
            <a:ext cx="3733800" cy="12096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6421" y="2563117"/>
            <a:ext cx="3733800" cy="12096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1991" y="2563117"/>
            <a:ext cx="3733800" cy="12096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1975" y="1383059"/>
            <a:ext cx="251445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0F4F8"/>
                </a:solidFill>
                <a:latin typeface="IBM Plex Sans"/>
              </a:rPr>
              <a:t>Decision Score Forecast Selection Artifact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975" y="1595883"/>
            <a:ext cx="3461355" cy="35165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C0D6"/>
                </a:solidFill>
                <a:latin typeface="Inter"/>
              </a:rPr>
              <a:t>A novel DS artifact that integrates WMAPE, bias, and asymmetric cost penalties to select operationally superior forecasts.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396" y="1383059"/>
            <a:ext cx="244256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0F4F8"/>
                </a:solidFill>
                <a:latin typeface="IBM Plex Sans"/>
              </a:rPr>
              <a:t>Decision-Oriented Evaluation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396" y="1595883"/>
            <a:ext cx="3376277" cy="348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C0D6"/>
                </a:solidFill>
                <a:latin typeface="Inter"/>
              </a:rPr>
              <a:t>A structured DSR framework that shifts forecast evaluation from statistical accuracy toward business decision quality.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2966" y="1383059"/>
            <a:ext cx="2794248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0F4F8"/>
                </a:solidFill>
                <a:latin typeface="IBM Plex Sans"/>
              </a:rPr>
              <a:t>Forecast Risk Translation into S&amp;OP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2966" y="1595883"/>
            <a:ext cx="3075976" cy="453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C0D6"/>
                </a:solidFill>
                <a:latin typeface="Inter"/>
              </a:rPr>
              <a:t>Operationalizes forecast risk as a planning input, enabling practitioners to directly connect forecast choice to S&amp;OP outcomes.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975" y="2951410"/>
            <a:ext cx="1778793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0F4F8"/>
                </a:solidFill>
                <a:latin typeface="IBM Plex Sans"/>
              </a:rPr>
              <a:t>Accuracy Alone Is Insufficient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975" y="3164234"/>
            <a:ext cx="3128096" cy="453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C0D6"/>
                </a:solidFill>
                <a:latin typeface="Inter"/>
              </a:rPr>
              <a:t>Minimizing WMAPE does not guarantee optimal planning outcomes; operational bias must be explicitly considered in selection.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396" y="2951410"/>
            <a:ext cx="1861988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0F4F8"/>
                </a:solidFill>
                <a:latin typeface="IBM Plex Sans"/>
              </a:rPr>
              <a:t>34.1% Absolute Bias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396" y="3164234"/>
            <a:ext cx="3520526" cy="314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C0D6"/>
                </a:solidFill>
                <a:latin typeface="Inter"/>
              </a:rPr>
              <a:t>Decision Score achieved a 34.1% lower absolute bias vs. WMAPE optimization at a cost of only +0.15 pp in WMAPE.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2966" y="2951410"/>
            <a:ext cx="234344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0F4F8"/>
                </a:solidFill>
                <a:latin typeface="IBM Plex Sans"/>
              </a:rPr>
              <a:t>Statistically Robust &amp; Practically Viable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2966" y="3164234"/>
            <a:ext cx="3333815" cy="3741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C0D6"/>
                </a:solidFill>
                <a:latin typeface="Inter"/>
              </a:rPr>
              <a:t>Wilcoxon p=0.031, Cohen's d=1.98 confirm significance. Better decisions are achievable without sacrificing forecast accuracy.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975" y="1141362"/>
            <a:ext cx="571797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C9B1">
                    <a:alpha val="80000"/>
                  </a:srgbClr>
                </a:solidFill>
                <a:latin typeface="Inter"/>
              </a:rPr>
              <a:t>TECHNICAL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396" y="1141362"/>
            <a:ext cx="951160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C9B1">
                    <a:alpha val="80000"/>
                  </a:srgbClr>
                </a:solidFill>
                <a:latin typeface="Inter"/>
              </a:rPr>
              <a:t>METHODOLOGICAL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2966" y="1141362"/>
            <a:ext cx="571797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C9B1">
                    <a:alpha val="80000"/>
                  </a:srgbClr>
                </a:solidFill>
                <a:latin typeface="Inter"/>
              </a:rPr>
              <a:t>PRACTICAL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975" y="2709713"/>
            <a:ext cx="489495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4A90D9">
                    <a:alpha val="80000"/>
                  </a:srgbClr>
                </a:solidFill>
                <a:latin typeface="Inter"/>
              </a:rPr>
              <a:t>FINDING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396" y="2709713"/>
            <a:ext cx="489495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4A90D9">
                    <a:alpha val="80000"/>
                  </a:srgbClr>
                </a:solidFill>
                <a:latin typeface="Inter"/>
              </a:rPr>
              <a:t>FINDING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2966" y="2709713"/>
            <a:ext cx="670917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4A90D9">
                    <a:alpha val="80000"/>
                  </a:srgbClr>
                </a:solidFill>
                <a:latin typeface="Inter"/>
              </a:rPr>
              <a:t>FINDING 3 &amp;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070" y="758725"/>
            <a:ext cx="1515665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00C9B1"/>
                </a:solidFill>
                <a:latin typeface="IBM Plex Sans"/>
              </a:rPr>
              <a:t>RESEARCH CONTRIBUTIONS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070" y="2327076"/>
            <a:ext cx="1034206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4A90D9"/>
                </a:solidFill>
                <a:latin typeface="IBM Plex Sans"/>
              </a:rPr>
              <a:t>KEY CONCLUSIONS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6147643"/>
            <a:ext cx="11430000" cy="571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4770" y="6271468"/>
            <a:ext cx="861566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5A623"/>
                </a:solidFill>
                <a:latin typeface="Inter"/>
              </a:rPr>
              <a:t>FINAL TAKEAWAY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770" y="6408539"/>
            <a:ext cx="6009850" cy="21552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0F4F8"/>
                </a:solidFill>
                <a:latin typeface="IBM Plex Sans"/>
              </a:rPr>
              <a:t>Optimizing forecast accuracy is </a:t>
            </a:r>
            <a:r>
              <a:rPr sz="1200" b="1" i="0">
                <a:solidFill>
                  <a:srgbClr val="F5A623"/>
                </a:solidFill>
                <a:latin typeface="IBM Plex Sans"/>
              </a:rPr>
              <a:t>not</a:t>
            </a:r>
            <a:r>
              <a:rPr sz="1200" b="1" i="0">
                <a:solidFill>
                  <a:srgbClr val="F0F4F8"/>
                </a:solidFill>
                <a:latin typeface="IBM Plex Sans"/>
              </a:rPr>
              <a:t> the same as optimizing planning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AF24593-4075-21D0-38B8-9E57E2FFD8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2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33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28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1112" y="352276"/>
            <a:ext cx="1123950" cy="238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560" y="241951"/>
            <a:ext cx="8193907" cy="4752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3629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0F4F8"/>
                </a:solidFill>
                <a:latin typeface="IBM Plex Sans"/>
              </a:rPr>
              <a:t>Backup A – </a:t>
            </a:r>
            <a:r>
              <a:rPr sz="3359" b="1" i="0">
                <a:solidFill>
                  <a:srgbClr val="00C9B1"/>
                </a:solidFill>
                <a:latin typeface="IBM Plex Sans"/>
              </a:rPr>
              <a:t>Detailed Wilcoxon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118" y="407491"/>
            <a:ext cx="855315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A623"/>
                </a:solidFill>
                <a:latin typeface="Inter"/>
              </a:rPr>
              <a:t>BACKUP SLIDE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560" y="5544889"/>
            <a:ext cx="11210925" cy="638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7560" y="1477863"/>
            <a:ext cx="10187605" cy="439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935"/>
              </a:lnSpc>
              <a:spcBef>
                <a:spcPts val="0"/>
              </a:spcBef>
              <a:spcAft>
                <a:spcPts val="0"/>
              </a:spcAft>
            </a:pPr>
            <a:r>
              <a:rPr sz="1289" b="0" i="0">
                <a:solidFill>
                  <a:srgbClr val="A8C0D6"/>
                </a:solidFill>
                <a:latin typeface="Inter"/>
              </a:rPr>
              <a:t>Non-parametric statistical test validating that the Decision Score systematically produces lower absolute bias than WMAPE optimization across all six vehicle segments in the Brazilian automotive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716" y="5678239"/>
            <a:ext cx="11179073" cy="36983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00C9B1"/>
                </a:solidFill>
                <a:latin typeface="Inter"/>
              </a:rPr>
              <a:t>Key Finding:</a:t>
            </a:r>
            <a:r>
              <a:rPr sz="1170" b="1" i="0">
                <a:solidFill>
                  <a:srgbClr val="F0F4F8"/>
                </a:solidFill>
                <a:latin typeface="Inter"/>
              </a:rPr>
              <a:t> Statistical evidence confirms that Decision Score superiority in reducing absolute bias is not due to chance — the result holds consistently across all vehicle segments with maximum rank agreement (W = 15, p = 0.03125).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60" y="2102643"/>
            <a:ext cx="5419725" cy="1714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760" y="2102643"/>
            <a:ext cx="5419725" cy="1714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560" y="3823841"/>
            <a:ext cx="5419725" cy="1562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8760" y="3823841"/>
            <a:ext cx="5419725" cy="1562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7560" y="2241649"/>
            <a:ext cx="1020514" cy="1238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C9B1"/>
                </a:solidFill>
                <a:latin typeface="Inter"/>
              </a:rPr>
              <a:t>1 / TEST STATISTIC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560" y="2408039"/>
            <a:ext cx="1619845" cy="2286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935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F0F4F8"/>
                </a:solidFill>
                <a:latin typeface="IBM Plex Sans"/>
              </a:rPr>
              <a:t>Wilcoxon W =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560" y="2701201"/>
            <a:ext cx="981819" cy="3072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2419" b="1" i="0">
                <a:solidFill>
                  <a:srgbClr val="00C9B1"/>
                </a:solidFill>
                <a:latin typeface="IBM Plex Sans"/>
              </a:rPr>
              <a:t>W =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560" y="3074342"/>
            <a:ext cx="5445487" cy="61089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A8C0D6"/>
                </a:solidFill>
                <a:latin typeface="Inter"/>
              </a:rPr>
              <a:t>The W statistic equals 15, corresponding to the maximum possible value for n = 6 pairs, indicating that Decision Score outperformed WMAPE optimization in every single vehicle segment without exception.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60" y="2241649"/>
            <a:ext cx="1331565" cy="1238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C9B1"/>
                </a:solidFill>
                <a:latin typeface="Inter"/>
              </a:rPr>
              <a:t>2 / SIGNIFICANCE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60" y="2408039"/>
            <a:ext cx="1690687" cy="2286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935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F0F4F8"/>
                </a:solidFill>
                <a:latin typeface="IBM Plex Sans"/>
              </a:rPr>
              <a:t>p-value = 0.03125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60" y="2701201"/>
            <a:ext cx="1648122" cy="3072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sz="2419" b="1" i="0">
                <a:solidFill>
                  <a:srgbClr val="F5A623"/>
                </a:solidFill>
                <a:latin typeface="IBM Plex Sans"/>
              </a:rPr>
              <a:t>p = 0.03125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60" y="3074342"/>
            <a:ext cx="5656265" cy="5816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A8C0D6"/>
                </a:solidFill>
                <a:latin typeface="Inter"/>
              </a:rPr>
              <a:t>The exact p-value of 0.03125 falls below the </a:t>
            </a:r>
            <a:r>
              <a:rPr sz="1139" b="0" i="0">
                <a:solidFill>
                  <a:srgbClr val="A8C0D6"/>
                </a:solidFill>
                <a:latin typeface="Cambria Math"/>
              </a:rPr>
              <a:t>α </a:t>
            </a:r>
            <a:r>
              <a:rPr sz="1139" b="0" i="0">
                <a:solidFill>
                  <a:srgbClr val="A8C0D6"/>
                </a:solidFill>
                <a:latin typeface="Inter"/>
              </a:rPr>
              <a:t>= 0.05 threshold, confirming statistical significance. This is the minimum achievable p-value for a one-sided Wilcoxon test with six pairs.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560" y="3953321"/>
            <a:ext cx="1830288" cy="1238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C9B1"/>
                </a:solidFill>
                <a:latin typeface="Inter"/>
              </a:rPr>
              <a:t>3 / NON-PARAMETRIC RATIONALE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560" y="4119711"/>
            <a:ext cx="2636341" cy="2286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935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F0F4F8"/>
                </a:solidFill>
                <a:latin typeface="IBM Plex Sans"/>
              </a:rPr>
              <a:t>Test Selection Justification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560" y="4433143"/>
            <a:ext cx="5479978" cy="7914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A8C0D6"/>
                </a:solidFill>
                <a:latin typeface="Inter"/>
              </a:rPr>
              <a:t>The Wilcoxon Signed-Rank Test was selected as the non-parametric alternative to the paired t-test because the small sample size (n = 6 segments) and non-normal distribution of bias differences make parametric assumptions unreliable and potentially invalid.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760" y="3953321"/>
            <a:ext cx="1429791" cy="1238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C9B1"/>
                </a:solidFill>
                <a:latin typeface="Inter"/>
              </a:rPr>
              <a:t>4 / HYPOTHESIS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760" y="4119711"/>
            <a:ext cx="3511897" cy="2286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935"/>
              </a:lnSpc>
              <a:spcBef>
                <a:spcPts val="0"/>
              </a:spcBef>
              <a:spcAft>
                <a:spcPts val="0"/>
              </a:spcAft>
            </a:pPr>
            <a:r>
              <a:rPr sz="1612" b="1" i="0">
                <a:solidFill>
                  <a:srgbClr val="F0F4F8"/>
                </a:solidFill>
                <a:latin typeface="IBM Plex Sans"/>
              </a:rPr>
              <a:t>Null Hypothesis Rejected at </a:t>
            </a:r>
            <a:r>
              <a:rPr sz="1612" b="1" i="0">
                <a:solidFill>
                  <a:srgbClr val="F0F4F8"/>
                </a:solidFill>
                <a:latin typeface="Cambria Math"/>
              </a:rPr>
              <a:t>α </a:t>
            </a:r>
            <a:r>
              <a:rPr sz="1612" b="1" i="0">
                <a:solidFill>
                  <a:srgbClr val="F0F4F8"/>
                </a:solidFill>
                <a:latin typeface="IBM Plex Sans"/>
              </a:rPr>
              <a:t>= 0.05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8760" y="4433143"/>
            <a:ext cx="5483963" cy="71329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A8C0D6"/>
                </a:solidFill>
                <a:latin typeface="Inter"/>
              </a:rPr>
              <a:t>H₀ stated no difference in bias between WMAPE optimization and Decision Score. With p = 0.03125 &lt; 0.05, H₀ is rejected. The bias reduction achieved by Decision Score is statistically significant and not attributable to random variation.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1375" y="365968"/>
            <a:ext cx="100965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7684"/>
            <a:ext cx="8251775" cy="4693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00C9B1"/>
                </a:solidFill>
                <a:latin typeface="IBM Plex Sans"/>
              </a:rPr>
              <a:t>Backup B – Quantile Regression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9871" y="432643"/>
            <a:ext cx="797421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5A623"/>
                </a:solidFill>
                <a:latin typeface="Inter"/>
              </a:rPr>
              <a:t>BACKUP SLIDE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30026"/>
            <a:ext cx="114300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3218" y="930026"/>
            <a:ext cx="114300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227832"/>
            <a:ext cx="54864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846212"/>
            <a:ext cx="5486400" cy="8286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2777132"/>
            <a:ext cx="5486400" cy="8286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3708052"/>
            <a:ext cx="5486400" cy="8286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4638972"/>
            <a:ext cx="5486400" cy="8286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5676602"/>
            <a:ext cx="5486400" cy="628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5815607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2370" y="914846"/>
            <a:ext cx="2032248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8C0D6"/>
                </a:solidFill>
                <a:latin typeface="Inter"/>
              </a:rPr>
              <a:t>WMAPE Optimization (Absolute Bias)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8389" y="914846"/>
            <a:ext cx="1680120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8C0D6"/>
                </a:solidFill>
                <a:latin typeface="Inter"/>
              </a:rPr>
              <a:t>Decision Score (Absolute Bias)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1265932"/>
            <a:ext cx="1392287" cy="2476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2621"/>
              </a:lnSpc>
              <a:spcBef>
                <a:spcPts val="0"/>
              </a:spcBef>
              <a:spcAft>
                <a:spcPts val="0"/>
              </a:spcAft>
            </a:pPr>
            <a:r>
              <a:rPr sz="1747" b="1" i="0">
                <a:solidFill>
                  <a:srgbClr val="00C9B1"/>
                </a:solidFill>
                <a:latin typeface="IBM Plex Sans"/>
              </a:rPr>
              <a:t>Key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045" y="1956643"/>
            <a:ext cx="1682650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00C9B1"/>
                </a:solidFill>
                <a:latin typeface="Inter"/>
              </a:rPr>
              <a:t>CONSISTENT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045" y="2180778"/>
            <a:ext cx="5008394" cy="404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F0F4F8"/>
                </a:solidFill>
                <a:latin typeface="Inter"/>
              </a:rPr>
              <a:t>Decision Score reduces absolute bias across all six vehicle segments without exception, confirming systematic superiority.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045" y="2887563"/>
            <a:ext cx="1590377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00C9B1"/>
                </a:solidFill>
                <a:latin typeface="Inter"/>
              </a:rPr>
              <a:t>NO OUTLIER DEPENDENCE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045" y="3111698"/>
            <a:ext cx="4944164" cy="3762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F0F4F8"/>
                </a:solidFill>
                <a:latin typeface="Inter"/>
              </a:rPr>
              <a:t>Quantile regression confirms results are not driven by any single segment or extreme observation in the dataset.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045" y="3818483"/>
            <a:ext cx="1594693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00C9B1"/>
                </a:solidFill>
                <a:latin typeface="Inter"/>
              </a:rPr>
              <a:t>ALL SEGMENTS IMPROVED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045" y="4042618"/>
            <a:ext cx="5369092" cy="3696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F0F4F8"/>
                </a:solidFill>
                <a:latin typeface="Inter"/>
              </a:rPr>
              <a:t>Flex Fuel, Diesel, Gasoline, Electric, Hybrid, and Plug-in Hybrid all show lower bias under Decision Score selection.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045" y="4749403"/>
            <a:ext cx="1577131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00C9B1"/>
                </a:solidFill>
                <a:latin typeface="Inter"/>
              </a:rPr>
              <a:t>ROBUSTNESS CONFIRMED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045" y="4973538"/>
            <a:ext cx="5105121" cy="3775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F0F4F8"/>
                </a:solidFill>
                <a:latin typeface="Inter"/>
              </a:rPr>
              <a:t>Findings generalize across the full 2.86M vehicle dataset, validating the artifact beyond a single market condition.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4105" y="5819477"/>
            <a:ext cx="5055326" cy="3370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4A90D9"/>
                </a:solidFill>
                <a:latin typeface="Inter"/>
              </a:rPr>
              <a:t>Conclusion:</a:t>
            </a:r>
            <a:r>
              <a:rPr sz="1019" b="0" i="0" dirty="0">
                <a:solidFill>
                  <a:srgbClr val="A8C0D6"/>
                </a:solidFill>
                <a:latin typeface="Inter"/>
              </a:rPr>
              <a:t> Bias reduction is consistent and robust </a:t>
            </a:r>
            <a:r>
              <a:rPr lang="pt-BR" sz="1019" b="0" i="0" dirty="0">
                <a:solidFill>
                  <a:srgbClr val="A8C0D6"/>
                </a:solidFill>
                <a:latin typeface="Inter"/>
              </a:rPr>
              <a:t>-</a:t>
            </a:r>
            <a:r>
              <a:rPr sz="1019" b="0" i="0" dirty="0">
                <a:solidFill>
                  <a:srgbClr val="A8C0D6"/>
                </a:solidFill>
                <a:latin typeface="Inter"/>
              </a:rPr>
              <a:t> not an artifact of outliers or a specific segment's behavior.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57200" y="1169937"/>
          <a:ext cx="5486400" cy="546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5216" y="323998"/>
            <a:ext cx="12573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9516" y="390673"/>
            <a:ext cx="128587" cy="114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207174"/>
            <a:ext cx="7952333" cy="4693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00C9B1"/>
                </a:solidFill>
                <a:latin typeface="IBM Plex Sans"/>
              </a:rPr>
              <a:t>Backup C – Sensitivity Analysis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41384" y="381148"/>
            <a:ext cx="855315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1B2A"/>
                </a:solidFill>
                <a:latin typeface="Inter"/>
              </a:rPr>
              <a:t>BACKUP SLIDE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6126063"/>
            <a:ext cx="11430000" cy="57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6332041"/>
            <a:ext cx="167580" cy="1675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2905" y="6253608"/>
            <a:ext cx="11043102" cy="32414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0C9B1"/>
                </a:solidFill>
                <a:latin typeface="Inter"/>
              </a:rPr>
              <a:t>Key Finding:</a:t>
            </a:r>
            <a:r>
              <a:rPr sz="1019" b="0" i="0">
                <a:solidFill>
                  <a:srgbClr val="F0F4F8"/>
                </a:solidFill>
                <a:latin typeface="Inter"/>
              </a:rPr>
              <a:t> Decision Score was consistently preferred across </a:t>
            </a:r>
            <a:r>
              <a:rPr sz="1019" b="1" i="0">
                <a:solidFill>
                  <a:srgbClr val="00C9B1"/>
                </a:solidFill>
                <a:latin typeface="Inter"/>
              </a:rPr>
              <a:t>all tested Cu × Co combinations</a:t>
            </a:r>
            <a:r>
              <a:rPr sz="1019" b="0" i="0">
                <a:solidFill>
                  <a:srgbClr val="F0F4F8"/>
                </a:solidFill>
                <a:latin typeface="Inter"/>
              </a:rPr>
              <a:t> — from symmetric costs (Cu = Co) to highly asymmetric shortage-heavy scenarios (Cu = 5× Co). The artifact's selection is </a:t>
            </a:r>
            <a:r>
              <a:rPr sz="1019" b="1" i="0">
                <a:solidFill>
                  <a:srgbClr val="00C9B1"/>
                </a:solidFill>
                <a:latin typeface="Inter"/>
              </a:rPr>
              <a:t>robust and parameter-independent</a:t>
            </a:r>
            <a:r>
              <a:rPr sz="1019" b="0" i="0">
                <a:solidFill>
                  <a:srgbClr val="F0F4F8"/>
                </a:solidFill>
                <a:latin typeface="Inter"/>
              </a:rPr>
              <a:t> 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920650"/>
            <a:ext cx="8229600" cy="5048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8532" y="5719911"/>
            <a:ext cx="95250" cy="95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0603" y="5719911"/>
            <a:ext cx="95250" cy="95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1101625"/>
            <a:ext cx="4512022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A8C0D6"/>
                </a:solidFill>
                <a:latin typeface="IBM Plex Sans"/>
              </a:rPr>
              <a:t>DECISION SCORE PREFERENCE ACROSS CU × CO PARAMETER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678537"/>
            <a:ext cx="1208782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A8C0D6"/>
                </a:solidFill>
                <a:latin typeface="Inter"/>
              </a:rPr>
              <a:t>← Co (Excess Cost)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4652" y="5704433"/>
            <a:ext cx="1225450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A8C0D6"/>
                </a:solidFill>
                <a:latin typeface="Inter"/>
              </a:rPr>
              <a:t>Decision Score Preferred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6724" y="5704433"/>
            <a:ext cx="1139874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A8C0D6"/>
                </a:solidFill>
                <a:latin typeface="Inter"/>
              </a:rPr>
              <a:t>WMAPE Opt. Preferred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5175" y="5678537"/>
            <a:ext cx="1295400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816" b="0" i="0">
                <a:solidFill>
                  <a:srgbClr val="A8C0D6"/>
                </a:solidFill>
                <a:latin typeface="Inter"/>
              </a:rPr>
              <a:t>Cu (Shortage Cost) Ratio </a:t>
            </a:r>
            <a:r>
              <a:rPr sz="816" b="0" i="0">
                <a:solidFill>
                  <a:srgbClr val="A8C0D6"/>
                </a:solidFill>
                <a:latin typeface="Cambria Math"/>
              </a:rPr>
              <a:t>→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0" y="564207"/>
            <a:ext cx="3048000" cy="1247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0" y="1914822"/>
            <a:ext cx="3048000" cy="1400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0" y="3419623"/>
            <a:ext cx="3048000" cy="14001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0" y="4924425"/>
            <a:ext cx="3048000" cy="14001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24925" y="750837"/>
            <a:ext cx="167580" cy="16758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4925" y="2101453"/>
            <a:ext cx="146744" cy="16758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24925" y="3606254"/>
            <a:ext cx="167580" cy="16758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24925" y="5111055"/>
            <a:ext cx="188565" cy="1675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24925" y="1014472"/>
            <a:ext cx="531911" cy="2362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</a:pPr>
            <a:r>
              <a:rPr sz="1860" b="1" i="0">
                <a:solidFill>
                  <a:srgbClr val="00C9B1"/>
                </a:solidFill>
                <a:latin typeface="IBM Plex Sans"/>
              </a:rPr>
              <a:t>5 ×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925" y="1316384"/>
            <a:ext cx="991344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A8C0D6"/>
                </a:solidFill>
                <a:latin typeface="Inter"/>
              </a:rPr>
              <a:t>PARAMETER GRID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925" y="2365087"/>
            <a:ext cx="604093" cy="2362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</a:pPr>
            <a:r>
              <a:rPr sz="1860" b="1" i="0">
                <a:solidFill>
                  <a:srgbClr val="00C9B1"/>
                </a:solidFill>
                <a:latin typeface="IBM Plex Sans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24925" y="2667000"/>
            <a:ext cx="1088826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A8C0D6"/>
                </a:solidFill>
                <a:latin typeface="Inter"/>
              </a:rPr>
              <a:t>STABLE SELECTION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24925" y="3869888"/>
            <a:ext cx="562123" cy="2362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</a:pPr>
            <a:r>
              <a:rPr sz="1860" b="1" i="0">
                <a:solidFill>
                  <a:srgbClr val="F5A623"/>
                </a:solidFill>
                <a:latin typeface="IBM Plex Sans"/>
              </a:rPr>
              <a:t>Wide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925" y="4171801"/>
            <a:ext cx="1188541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A8C0D6"/>
                </a:solidFill>
                <a:latin typeface="Inter"/>
              </a:rPr>
              <a:t>ROBUSTNESS 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4925" y="5374689"/>
            <a:ext cx="197941" cy="2362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</a:pPr>
            <a:r>
              <a:rPr sz="1860" b="1" i="0">
                <a:solidFill>
                  <a:srgbClr val="4A90D9"/>
                </a:solidFill>
                <a:latin typeface="Segoe UI Emoj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4925" y="5676602"/>
            <a:ext cx="1486941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A8C0D6"/>
                </a:solidFill>
                <a:latin typeface="Inter"/>
              </a:rPr>
              <a:t>PRACTICAL APPLICABILITY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581025" y="1352996"/>
          <a:ext cx="7829550" cy="421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8924925" y="1532185"/>
            <a:ext cx="2681138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0F4F8">
                    <a:alpha val="75000"/>
                  </a:srgbClr>
                </a:solidFill>
                <a:latin typeface="Inter"/>
              </a:rPr>
              <a:t>Cu varied 1× to 5× Co across all combinations tested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925" y="2882800"/>
            <a:ext cx="2375274" cy="28753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0F4F8">
                    <a:alpha val="75000"/>
                  </a:srgbClr>
                </a:solidFill>
                <a:latin typeface="Inter"/>
              </a:rPr>
              <a:t>Decision Score preferred in every parameter combination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925" y="4387601"/>
            <a:ext cx="2670363" cy="28753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0F4F8">
                    <a:alpha val="75000"/>
                  </a:srgbClr>
                </a:solidFill>
                <a:latin typeface="Inter"/>
              </a:rPr>
              <a:t>Artifact behavior does not depend on a single cost configuration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24925" y="5892403"/>
            <a:ext cx="2663158" cy="28753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0F4F8">
                    <a:alpha val="75000"/>
                  </a:srgbClr>
                </a:solidFill>
                <a:latin typeface="Inter"/>
              </a:rPr>
              <a:t>Robust to real-world cost parameter uncertainty in S&amp;OP contexts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07174"/>
            <a:ext cx="6930925" cy="4693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00C9B1"/>
                </a:solidFill>
                <a:latin typeface="IBM Plex Sans"/>
              </a:rPr>
              <a:t>Backup D – All Model Comparison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854124"/>
            <a:ext cx="95250" cy="95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473" y="854124"/>
            <a:ext cx="95250" cy="95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4032" y="835074"/>
            <a:ext cx="9525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775424"/>
            <a:ext cx="2162175" cy="895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5460" y="5775424"/>
            <a:ext cx="2162175" cy="895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3870" y="5775424"/>
            <a:ext cx="2162175" cy="895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2280" y="5775424"/>
            <a:ext cx="2162175" cy="895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0690" y="5775424"/>
            <a:ext cx="2162175" cy="895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69859" y="5883919"/>
            <a:ext cx="1495425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4057" y="844599"/>
            <a:ext cx="128587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6124426"/>
            <a:ext cx="247650" cy="19809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97385" y="6124426"/>
            <a:ext cx="198090" cy="19809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75795" y="6124426"/>
            <a:ext cx="173384" cy="19809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4205" y="6124426"/>
            <a:ext cx="198090" cy="19809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32615" y="6124426"/>
            <a:ext cx="222944" cy="19809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1420" y="838646"/>
            <a:ext cx="615553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A8C0D6"/>
                </a:solidFill>
                <a:latin typeface="Inter"/>
              </a:rPr>
              <a:t>WMAPE (%)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3594" y="838646"/>
            <a:ext cx="1169937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A8C0D6"/>
                </a:solidFill>
                <a:latin typeface="Inter"/>
              </a:rPr>
              <a:t>Absolute Bias (</a:t>
            </a:r>
            <a:r>
              <a:rPr sz="864" b="0" i="0">
                <a:solidFill>
                  <a:srgbClr val="A8C0D6"/>
                </a:solidFill>
                <a:latin typeface="Cambria Math"/>
              </a:rPr>
              <a:t>÷</a:t>
            </a:r>
            <a:r>
              <a:rPr sz="864" b="0" i="0">
                <a:solidFill>
                  <a:srgbClr val="A8C0D6"/>
                </a:solidFill>
                <a:latin typeface="Inter"/>
              </a:rPr>
              <a:t>10,000)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3515" y="838646"/>
            <a:ext cx="2395983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0C9B1"/>
                </a:solidFill>
                <a:latin typeface="Inter"/>
              </a:rPr>
              <a:t>Decision Score: best bias, near-best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75" y="5977235"/>
            <a:ext cx="915888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A8C0D6"/>
                </a:solidFill>
                <a:latin typeface="Inter"/>
              </a:rPr>
              <a:t>EXP. SMOOTHING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075" y="6118175"/>
            <a:ext cx="1175726" cy="2586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0F4F8"/>
                </a:solidFill>
                <a:latin typeface="IBM Plex Sans"/>
              </a:rPr>
              <a:t>12.6% </a:t>
            </a:r>
            <a:r>
              <a:rPr sz="960" b="1" i="0">
                <a:solidFill>
                  <a:srgbClr val="A8C0D6"/>
                </a:solidFill>
                <a:latin typeface="IBM Plex Sans"/>
              </a:rPr>
              <a:t>/ 292,299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075" y="6362700"/>
            <a:ext cx="869007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A8C0D6"/>
                </a:solidFill>
                <a:latin typeface="Inter"/>
              </a:rPr>
              <a:t>WMAPE / Abs. 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9776" y="5977235"/>
            <a:ext cx="631626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A8C0D6"/>
                </a:solidFill>
                <a:latin typeface="Inter"/>
              </a:rPr>
              <a:t>AUTOARIMA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9776" y="6118175"/>
            <a:ext cx="1175726" cy="2586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0F4F8"/>
                </a:solidFill>
                <a:latin typeface="IBM Plex Sans"/>
              </a:rPr>
              <a:t>13.8% </a:t>
            </a:r>
            <a:r>
              <a:rPr sz="960" b="1" i="0">
                <a:solidFill>
                  <a:srgbClr val="A8C0D6"/>
                </a:solidFill>
                <a:latin typeface="IBM Plex Sans"/>
              </a:rPr>
              <a:t>/ 188,224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9776" y="6362700"/>
            <a:ext cx="869007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A8C0D6"/>
                </a:solidFill>
                <a:latin typeface="Inter"/>
              </a:rPr>
              <a:t>WMAPE / Abs. Bias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3480" y="5977235"/>
            <a:ext cx="935384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A8C0D6"/>
                </a:solidFill>
                <a:latin typeface="Inter"/>
              </a:rPr>
              <a:t>RANDOM FOREST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3480" y="6118175"/>
            <a:ext cx="1175726" cy="2586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0F4F8"/>
                </a:solidFill>
                <a:latin typeface="IBM Plex Sans"/>
              </a:rPr>
              <a:t>16.3% </a:t>
            </a:r>
            <a:r>
              <a:rPr sz="960" b="1" i="0">
                <a:solidFill>
                  <a:srgbClr val="A8C0D6"/>
                </a:solidFill>
                <a:latin typeface="IBM Plex Sans"/>
              </a:rPr>
              <a:t>/ 331,426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3480" y="6362700"/>
            <a:ext cx="869007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A8C0D6"/>
                </a:solidFill>
                <a:latin typeface="Inter"/>
              </a:rPr>
              <a:t>WMAPE / Abs. Bias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6595" y="5977235"/>
            <a:ext cx="1182141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A8C0D6"/>
                </a:solidFill>
                <a:latin typeface="Inter"/>
              </a:rPr>
              <a:t>WMAPE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66595" y="6118175"/>
            <a:ext cx="1105978" cy="2566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5A623"/>
                </a:solidFill>
                <a:latin typeface="IBM Plex Sans"/>
              </a:rPr>
              <a:t>8.06% </a:t>
            </a:r>
            <a:r>
              <a:rPr sz="960" b="1" i="0">
                <a:solidFill>
                  <a:srgbClr val="A8C0D6"/>
                </a:solidFill>
                <a:latin typeface="IBM Plex Sans"/>
              </a:rPr>
              <a:t>/ 36,587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6595" y="6362700"/>
            <a:ext cx="599479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A8C0D6"/>
                </a:solidFill>
                <a:latin typeface="Inter"/>
              </a:rPr>
              <a:t>Best WMAPE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69859" y="5902969"/>
            <a:ext cx="953392" cy="1143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0">
                <a:solidFill>
                  <a:srgbClr val="A8C0D6"/>
                </a:solidFill>
                <a:latin typeface="Inter"/>
              </a:rPr>
              <a:t>DECISION SCORE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29813" y="5901481"/>
            <a:ext cx="487560" cy="1047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0D1B2A"/>
                </a:solidFill>
                <a:latin typeface="Inter"/>
              </a:rPr>
              <a:t>SELECTED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69859" y="6043910"/>
            <a:ext cx="1098926" cy="2582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00C9B1"/>
                </a:solidFill>
                <a:latin typeface="IBM Plex Sans"/>
              </a:rPr>
              <a:t>8.21% </a:t>
            </a:r>
            <a:r>
              <a:rPr sz="960" b="1" i="0">
                <a:solidFill>
                  <a:srgbClr val="A8C0D6"/>
                </a:solidFill>
                <a:latin typeface="IBM Plex Sans"/>
              </a:rPr>
              <a:t>/ 24,115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69859" y="6288434"/>
            <a:ext cx="1277819" cy="25345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A8C0D6"/>
                </a:solidFill>
                <a:latin typeface="Inter"/>
              </a:rPr>
              <a:t>Best Abs. Bias · −34.1% vs WMAPE Opt.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50884" y="323998"/>
            <a:ext cx="1076325" cy="2476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765184" y="381148"/>
            <a:ext cx="855315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1B2A">
                    <a:alpha val="70000"/>
                  </a:srgbClr>
                </a:solidFill>
                <a:latin typeface="Inter"/>
              </a:rPr>
              <a:t>BACKUP SLIDE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1098351"/>
            <a:ext cx="11277600" cy="456247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7225" y="1279326"/>
            <a:ext cx="3010197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C0D6"/>
                </a:solidFill>
                <a:latin typeface="IBM Plex Sans"/>
              </a:rPr>
              <a:t>WMAPE (%) &amp; ABSOLUTE BIAS — ALL 5 MODELS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657225" y="1530697"/>
          <a:ext cx="10877550" cy="4029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2241</Words>
  <Application>Microsoft Office PowerPoint</Application>
  <PresentationFormat>Widescreen</PresentationFormat>
  <Paragraphs>352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9" baseType="lpstr">
      <vt:lpstr>IBM Plex Mono</vt:lpstr>
      <vt:lpstr>Inter</vt:lpstr>
      <vt:lpstr>Calibri</vt:lpstr>
      <vt:lpstr>High Tower Text</vt:lpstr>
      <vt:lpstr>Segoe UI Emoji</vt:lpstr>
      <vt:lpstr>Microsoft YaHei</vt:lpstr>
      <vt:lpstr>IBM Plex Sans</vt:lpstr>
      <vt:lpstr>Aptos</vt:lpstr>
      <vt:lpstr>Arial</vt:lpstr>
      <vt:lpstr>Cambria Math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Luiz Trento</dc:creator>
  <cp:keywords/>
  <dc:description>generated using python-pptx</dc:description>
  <cp:lastModifiedBy>Luiz Trento</cp:lastModifiedBy>
  <cp:revision>1</cp:revision>
  <dcterms:created xsi:type="dcterms:W3CDTF">2013-01-27T09:14:16Z</dcterms:created>
  <dcterms:modified xsi:type="dcterms:W3CDTF">2026-09-28T13:03:08Z</dcterms:modified>
  <cp:category/>
</cp:coreProperties>
</file>